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o" id="{c0cada03-f302-5c35-0a34-e1e748698416}">
          <p14:sldIdLst>
            <p14:sldId id="256"/>
            <p14:sldId id="257"/>
          </p14:sldIdLst>
        </p14:section>
        <p14:section name="Diseño" id="{f1c89767-7c7d-ed54-adc6-5fa18a4b3c10}">
          <p14:sldIdLst>
            <p14:sldId id="258"/>
            <p14:sldId id="259"/>
            <p14:sldId id="260"/>
          </p14:sldIdLst>
        </p14:section>
        <p14:section name="Demostración" id="{fa96e7a4-c39e-567f-7653-c8c9f9ea5353}">
          <p14:sldIdLst>
            <p14:sldId id="261"/>
            <p14:sldId id="262"/>
          </p14:sldIdLst>
        </p14:section>
        <p14:section name="Cierre" id="{a56b42f6-0415-3b50-6dd5-07aaf85b5239}">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Integrante 1. Saludo y presentación del equipo. Una frase: pasamos de un flujo fijo (EP1) a un agente que decide solo qué herramienta usar.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Integrante 1. Contexto: recepción pierde tiempo en consultas repetitivas. EP1 clasificaba y respondía; EP2 actúa: consulta, razona y escribe. Restricción de seguridad: nunca consejo clínico.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Integrante 1. Recorrer el diagrama de izquierda a derecha: paciente → orquestador (detecta RUT, guarda cada turno) → agente AgentExecutor → 5 herramientas → respuesta y trazabilidad. Destacar el ciclo razona → llama herramienta → observa → re-planifica.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Integrante 2. Tres tipos de herramienta: consulta, razonamiento y escritura. El modelo elige según el docstring y las reglas del prompt. Para agregar una nueva: función con @tool, docstring claro, sumarla a la lista y reconstruir el agente.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Integrante 2. Corto plazo: resume en vez de descartar, así no se pierde continuidad; además cada turno se guarda en SQLite (en Drive) y se recarga por RUT al reiniciar. Largo plazo: JSON por RUT, simple porque el volumen es bajo y la búsqueda es por clave exacta. Recuperación semántica: el RAG trae solo 4 fragmentos, no todos los documentos.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Integrante 1. Ejemplo central de adaptación: la herramienta informa que no hay cupo y el agente cambia el plan en vez de registrar la hora pedida. Las prioridades salen de las reglas del system prompt: primero seguridad clínica, luego alcance, luego información verificada, luego verificar antes de escribir.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Presentan: Integrante 1 y Integrante 2 (uno maneja el notebook, el otro narra). Orden: 1) consulta administrativa, 2) agendar con RUT en un día sin cupo, 3) consulta de salud. Después de cada caso mostrar la línea 'herramientas usadas'. Tener el notebook ya ejecutado hasta la celda 13 antes de empezar.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Integrante 2. Cada problema lo encontramos probando el agente y quedó corregido en el código. Cierre: próximos pasos y apertura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ULO">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914400"/>
            <a:ext cx="786384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914400"/>
            <a:ext cx="7863840" cy="1371600"/>
          </a:xfrm>
          <a:prstGeom prst="rect">
            <a:avLst/>
          </a:prstGeom>
          <a:noFill/>
          <a:ln/>
        </p:spPr>
        <p:txBody>
          <a:bodyPr wrap="square" lIns="0" tIns="0" rIns="0" bIns="0" rtlCol="0" anchor="t"/>
          <a:lstStyle/>
          <a:p>
            <a:pPr algn="l" indent="0" marL="0">
              <a:buNone/>
            </a:pPr>
            <a:r>
              <a:rPr lang="en-US" sz="4000" b="1" dirty="0">
                <a:solidFill>
                  <a:schemeClr val="bg1"/>
                </a:solidFill>
              </a:rPr>
              <a:t>Agente funcional para el Centro Médico Vitalis</a:t>
            </a:r>
            <a:endParaRPr lang="en-US" sz="4000" dirty="0"/>
          </a:p>
        </p:txBody>
      </p:sp>
      <p:sp>
        <p:nvSpPr>
          <p:cNvPr id="3" name="Text 1"/>
          <p:cNvSpPr txBox="1"/>
          <p:nvPr/>
        </p:nvSpPr>
        <p:spPr>
          <a:xfrm>
            <a:off x="640080" y="2377440"/>
            <a:ext cx="7863840" cy="365760"/>
          </a:xfrm>
          <a:prstGeom prst="rect">
            <a:avLst/>
          </a:prstGeom>
          <a:noFill/>
          <a:ln/>
        </p:spPr>
        <p:txBody>
          <a:bodyPr wrap="square" lIns="0" tIns="0" rIns="0" bIns="0" rtlCol="0" anchor="ctr"/>
          <a:lstStyle/>
          <a:p>
            <a:pPr indent="0" marL="0">
              <a:buNone/>
            </a:pPr>
            <a:r>
              <a:rPr lang="en-US" sz="1800" dirty="0">
                <a:solidFill>
                  <a:schemeClr val="bg2"/>
                </a:solidFill>
              </a:rPr>
              <a:t>Evaluación Parcial N°2 · ISY0101 Ingeniería de Soluciones con IA</a:t>
            </a:r>
            <a:endParaRPr lang="en-US" sz="1800" dirty="0"/>
          </a:p>
        </p:txBody>
      </p:sp>
      <p:sp>
        <p:nvSpPr>
          <p:cNvPr id="4" name="Text 2"/>
          <p:cNvSpPr txBox="1"/>
          <p:nvPr/>
        </p:nvSpPr>
        <p:spPr>
          <a:xfrm>
            <a:off x="640080" y="2788920"/>
            <a:ext cx="7863840" cy="365760"/>
          </a:xfrm>
          <a:prstGeom prst="rect">
            <a:avLst/>
          </a:prstGeom>
          <a:noFill/>
          <a:ln/>
        </p:spPr>
        <p:txBody>
          <a:bodyPr wrap="square" lIns="0" tIns="0" rIns="0" bIns="0" rtlCol="0" anchor="ctr"/>
          <a:lstStyle/>
          <a:p>
            <a:pPr indent="0" marL="0">
              <a:buNone/>
            </a:pPr>
            <a:r>
              <a:rPr lang="en-US" sz="1600" dirty="0">
                <a:solidFill>
                  <a:schemeClr val="bg1"/>
                </a:solidFill>
              </a:rPr>
              <a:t>[Nombre integrante 1] · [Nombre integrante 2]</a:t>
            </a:r>
            <a:endParaRPr lang="en-US" sz="1600" dirty="0"/>
          </a:p>
        </p:txBody>
      </p:sp>
      <p:sp>
        <p:nvSpPr>
          <p:cNvPr id="5" name="Icono search fondo"/>
          <p:cNvSpPr/>
          <p:nvPr/>
        </p:nvSpPr>
        <p:spPr>
          <a:xfrm>
            <a:off x="640080" y="3749040"/>
            <a:ext cx="594360" cy="594360"/>
          </a:xfrm>
          <a:prstGeom prst="ellipse">
            <a:avLst/>
          </a:prstGeom>
          <a:solidFill>
            <a:schemeClr val="accent1"/>
          </a:solidFill>
          <a:ln w="12700">
            <a:solidFill>
              <a:schemeClr val="accent1"/>
            </a:solidFill>
            <a:prstDash val="solid"/>
          </a:ln>
        </p:spPr>
      </p:sp>
      <p:pic>
        <p:nvPicPr>
          <p:cNvPr id="6" name="Icono search" descr="Icono search">    </p:cNvPr>
          <p:cNvPicPr>
            <a:picLocks noChangeAspect="1"/>
          </p:cNvPicPr>
          <p:nvPr/>
        </p:nvPicPr>
        <p:blipFill>
          <a:blip r:embed="rId1"/>
          <a:stretch>
            <a:fillRect/>
          </a:stretch>
        </p:blipFill>
        <p:spPr>
          <a:xfrm>
            <a:off x="788670" y="3897630"/>
            <a:ext cx="297180" cy="297180"/>
          </a:xfrm>
          <a:prstGeom prst="rect">
            <a:avLst/>
          </a:prstGeom>
        </p:spPr>
      </p:pic>
      <p:sp>
        <p:nvSpPr>
          <p:cNvPr id="7" name="Icono memory fondo"/>
          <p:cNvSpPr/>
          <p:nvPr/>
        </p:nvSpPr>
        <p:spPr>
          <a:xfrm>
            <a:off x="1417320" y="3749040"/>
            <a:ext cx="594360" cy="594360"/>
          </a:xfrm>
          <a:prstGeom prst="ellipse">
            <a:avLst/>
          </a:prstGeom>
          <a:solidFill>
            <a:schemeClr val="accent1"/>
          </a:solidFill>
          <a:ln w="12700">
            <a:solidFill>
              <a:schemeClr val="accent1"/>
            </a:solidFill>
            <a:prstDash val="solid"/>
          </a:ln>
        </p:spPr>
      </p:sp>
      <p:pic>
        <p:nvPicPr>
          <p:cNvPr id="8" name="Icono memory" descr="Icono memory">    </p:cNvPr>
          <p:cNvPicPr>
            <a:picLocks noChangeAspect="1"/>
          </p:cNvPicPr>
          <p:nvPr/>
        </p:nvPicPr>
        <p:blipFill>
          <a:blip r:embed="rId2"/>
          <a:stretch>
            <a:fillRect/>
          </a:stretch>
        </p:blipFill>
        <p:spPr>
          <a:xfrm>
            <a:off x="1565910" y="3897630"/>
            <a:ext cx="297180" cy="297180"/>
          </a:xfrm>
          <a:prstGeom prst="rect">
            <a:avLst/>
          </a:prstGeom>
        </p:spPr>
      </p:pic>
      <p:sp>
        <p:nvSpPr>
          <p:cNvPr id="9" name="Icono calendar fondo"/>
          <p:cNvSpPr/>
          <p:nvPr/>
        </p:nvSpPr>
        <p:spPr>
          <a:xfrm>
            <a:off x="2194560" y="3749040"/>
            <a:ext cx="594360" cy="594360"/>
          </a:xfrm>
          <a:prstGeom prst="ellipse">
            <a:avLst/>
          </a:prstGeom>
          <a:solidFill>
            <a:schemeClr val="accent3"/>
          </a:solidFill>
          <a:ln w="12700">
            <a:solidFill>
              <a:schemeClr val="accent3"/>
            </a:solidFill>
            <a:prstDash val="solid"/>
          </a:ln>
        </p:spPr>
      </p:sp>
      <p:pic>
        <p:nvPicPr>
          <p:cNvPr id="10" name="Icono calendar" descr="Icono calendar">    </p:cNvPr>
          <p:cNvPicPr>
            <a:picLocks noChangeAspect="1"/>
          </p:cNvPicPr>
          <p:nvPr/>
        </p:nvPicPr>
        <p:blipFill>
          <a:blip r:embed="rId3"/>
          <a:stretch>
            <a:fillRect/>
          </a:stretch>
        </p:blipFill>
        <p:spPr>
          <a:xfrm>
            <a:off x="2343150" y="3897630"/>
            <a:ext cx="297180" cy="297180"/>
          </a:xfrm>
          <a:prstGeom prst="rect">
            <a:avLst/>
          </a:prstGeom>
        </p:spPr>
      </p:pic>
      <p:sp>
        <p:nvSpPr>
          <p:cNvPr id="11" name="Icono clip fondo"/>
          <p:cNvSpPr/>
          <p:nvPr/>
        </p:nvSpPr>
        <p:spPr>
          <a:xfrm>
            <a:off x="2971800" y="3749040"/>
            <a:ext cx="594360" cy="594360"/>
          </a:xfrm>
          <a:prstGeom prst="ellipse">
            <a:avLst/>
          </a:prstGeom>
          <a:solidFill>
            <a:schemeClr val="accent4"/>
          </a:solidFill>
          <a:ln w="12700">
            <a:solidFill>
              <a:schemeClr val="accent4"/>
            </a:solidFill>
            <a:prstDash val="solid"/>
          </a:ln>
        </p:spPr>
      </p:sp>
      <p:pic>
        <p:nvPicPr>
          <p:cNvPr id="12" name="Icono clip" descr="Icono clip">    </p:cNvPr>
          <p:cNvPicPr>
            <a:picLocks noChangeAspect="1"/>
          </p:cNvPicPr>
          <p:nvPr/>
        </p:nvPicPr>
        <p:blipFill>
          <a:blip r:embed="rId4"/>
          <a:stretch>
            <a:fillRect/>
          </a:stretch>
        </p:blipFill>
        <p:spPr>
          <a:xfrm>
            <a:off x="3120390" y="3897630"/>
            <a:ext cx="297180" cy="297180"/>
          </a:xfrm>
          <a:prstGeom prst="rect">
            <a:avLst/>
          </a:prstGeom>
        </p:spPr>
      </p:pic>
      <p:sp>
        <p:nvSpPr>
          <p:cNvPr id="13" name="Icono mail fondo"/>
          <p:cNvSpPr/>
          <p:nvPr/>
        </p:nvSpPr>
        <p:spPr>
          <a:xfrm>
            <a:off x="3749040" y="3749040"/>
            <a:ext cx="594360" cy="594360"/>
          </a:xfrm>
          <a:prstGeom prst="ellipse">
            <a:avLst/>
          </a:prstGeom>
          <a:solidFill>
            <a:schemeClr val="accent4"/>
          </a:solidFill>
          <a:ln w="12700">
            <a:solidFill>
              <a:schemeClr val="accent4"/>
            </a:solidFill>
            <a:prstDash val="solid"/>
          </a:ln>
        </p:spPr>
      </p:sp>
      <p:pic>
        <p:nvPicPr>
          <p:cNvPr id="14" name="Icono mail" descr="Icono mail">    </p:cNvPr>
          <p:cNvPicPr>
            <a:picLocks noChangeAspect="1"/>
          </p:cNvPicPr>
          <p:nvPr/>
        </p:nvPicPr>
        <p:blipFill>
          <a:blip r:embed="rId5"/>
          <a:stretch>
            <a:fillRect/>
          </a:stretch>
        </p:blipFill>
        <p:spPr>
          <a:xfrm>
            <a:off x="3897630" y="3897630"/>
            <a:ext cx="297180" cy="2971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Del flujo fijo al agente autónomo</a:t>
            </a:r>
            <a:endParaRPr lang="en-US" sz="34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600" dirty="0">
                <a:solidFill>
                  <a:schemeClr val="accent6"/>
                </a:solidFill>
              </a:rPr>
              <a:t>Caso: recepción del Centro Médico Vitalis, con tareas repetitivas y sin consejo clínico.</a:t>
            </a:r>
            <a:endParaRPr lang="en-US" sz="1600" dirty="0"/>
          </a:p>
        </p:txBody>
      </p:sp>
      <p:sp>
        <p:nvSpPr>
          <p:cNvPr id="4" name="Tarjeta EP1"/>
          <p:cNvSpPr/>
          <p:nvPr/>
        </p:nvSpPr>
        <p:spPr>
          <a:xfrm>
            <a:off x="457200" y="1554480"/>
            <a:ext cx="3840480" cy="2926080"/>
          </a:xfrm>
          <a:prstGeom prst="roundRect">
            <a:avLst>
              <a:gd name="adj" fmla="val 2500"/>
            </a:avLst>
          </a:prstGeom>
          <a:solidFill>
            <a:schemeClr val="bg2"/>
          </a:solidFill>
          <a:ln w="12700">
            <a:solidFill>
              <a:schemeClr val="bg2"/>
            </a:solidFill>
            <a:prstDash val="solid"/>
          </a:ln>
        </p:spPr>
      </p:sp>
      <p:sp>
        <p:nvSpPr>
          <p:cNvPr id="5" name="Text 3"/>
          <p:cNvSpPr txBox="1"/>
          <p:nvPr/>
        </p:nvSpPr>
        <p:spPr>
          <a:xfrm>
            <a:off x="685800" y="1691640"/>
            <a:ext cx="3383280" cy="411480"/>
          </a:xfrm>
          <a:prstGeom prst="rect">
            <a:avLst/>
          </a:prstGeom>
          <a:noFill/>
          <a:ln/>
        </p:spPr>
        <p:txBody>
          <a:bodyPr wrap="square" lIns="0" tIns="0" rIns="0" bIns="0" rtlCol="0" anchor="ctr"/>
          <a:lstStyle/>
          <a:p>
            <a:pPr indent="0" marL="0">
              <a:buNone/>
            </a:pPr>
            <a:r>
              <a:rPr lang="en-US" sz="2000" b="1" dirty="0">
                <a:solidFill>
                  <a:schemeClr val="tx2"/>
                </a:solidFill>
              </a:rPr>
              <a:t>EP1 · Router + RAG</a:t>
            </a:r>
            <a:endParaRPr lang="en-US" sz="2000" dirty="0"/>
          </a:p>
        </p:txBody>
      </p:sp>
      <p:sp>
        <p:nvSpPr>
          <p:cNvPr id="6" name="Text 4"/>
          <p:cNvSpPr txBox="1"/>
          <p:nvPr/>
        </p:nvSpPr>
        <p:spPr>
          <a:xfrm>
            <a:off x="685800" y="2194560"/>
            <a:ext cx="338328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Clasifica la consulta con if/else</a:t>
            </a:r>
            <a:endParaRPr lang="en-US" sz="1600" dirty="0"/>
          </a:p>
          <a:p>
            <a:pPr marL="342900" indent="-342900">
              <a:spcAft>
                <a:spcPts val="800"/>
              </a:spcAft>
              <a:buSzPct val="100000"/>
              <a:buChar char="•"/>
            </a:pPr>
            <a:r>
              <a:rPr lang="en-US" sz="1600" dirty="0">
                <a:solidFill>
                  <a:schemeClr val="tx1"/>
                </a:solidFill>
              </a:rPr>
              <a:t>Solo lectura (RAG)</a:t>
            </a:r>
            <a:endParaRPr lang="en-US" sz="1600" dirty="0"/>
          </a:p>
          <a:p>
            <a:pPr marL="342900" indent="-342900">
              <a:spcAft>
                <a:spcPts val="800"/>
              </a:spcAft>
              <a:buSzPct val="100000"/>
              <a:buChar char="•"/>
            </a:pPr>
            <a:r>
              <a:rPr lang="en-US" sz="1600" dirty="0">
                <a:solidFill>
                  <a:schemeClr val="tx1"/>
                </a:solidFill>
              </a:rPr>
              <a:t>Sin memoria entre turnos</a:t>
            </a:r>
            <a:endParaRPr lang="en-US" sz="1600" dirty="0"/>
          </a:p>
          <a:p>
            <a:pPr marL="342900" indent="-342900">
              <a:spcAft>
                <a:spcPts val="800"/>
              </a:spcAft>
              <a:buSzPct val="100000"/>
              <a:buChar char="•"/>
            </a:pPr>
            <a:r>
              <a:rPr lang="en-US" sz="1600" dirty="0">
                <a:solidFill>
                  <a:schemeClr val="tx1"/>
                </a:solidFill>
              </a:rPr>
              <a:t>Flujo fijo</a:t>
            </a:r>
            <a:endParaRPr lang="en-US" sz="1600" dirty="0"/>
          </a:p>
        </p:txBody>
      </p:sp>
      <p:sp>
        <p:nvSpPr>
          <p:cNvPr id="7" name="Text 5"/>
          <p:cNvSpPr txBox="1"/>
          <p:nvPr/>
        </p:nvSpPr>
        <p:spPr>
          <a:xfrm>
            <a:off x="4297680" y="2651760"/>
            <a:ext cx="548640" cy="548640"/>
          </a:xfrm>
          <a:prstGeom prst="rect">
            <a:avLst/>
          </a:prstGeom>
          <a:noFill/>
          <a:ln/>
        </p:spPr>
        <p:txBody>
          <a:bodyPr wrap="square" lIns="0" tIns="0" rIns="0" bIns="0" rtlCol="0" anchor="ctr"/>
          <a:lstStyle/>
          <a:p>
            <a:pPr algn="ctr" indent="0" marL="0">
              <a:buNone/>
            </a:pPr>
            <a:r>
              <a:rPr lang="en-US" sz="3200" b="1" dirty="0">
                <a:solidFill>
                  <a:schemeClr val="accent1"/>
                </a:solidFill>
              </a:rPr>
              <a:t>→</a:t>
            </a:r>
            <a:endParaRPr lang="en-US" sz="3200" dirty="0"/>
          </a:p>
        </p:txBody>
      </p:sp>
      <p:sp>
        <p:nvSpPr>
          <p:cNvPr id="8" name="Tarjeta EP2"/>
          <p:cNvSpPr/>
          <p:nvPr/>
        </p:nvSpPr>
        <p:spPr>
          <a:xfrm>
            <a:off x="4846320" y="1554480"/>
            <a:ext cx="3840480" cy="2926080"/>
          </a:xfrm>
          <a:prstGeom prst="roundRect">
            <a:avLst>
              <a:gd name="adj" fmla="val 2500"/>
            </a:avLst>
          </a:prstGeom>
          <a:solidFill>
            <a:schemeClr val="accent1"/>
          </a:solidFill>
          <a:ln w="12700">
            <a:solidFill>
              <a:schemeClr val="accent1"/>
            </a:solidFill>
            <a:prstDash val="solid"/>
          </a:ln>
        </p:spPr>
      </p:sp>
      <p:sp>
        <p:nvSpPr>
          <p:cNvPr id="9" name="Text 7"/>
          <p:cNvSpPr txBox="1"/>
          <p:nvPr/>
        </p:nvSpPr>
        <p:spPr>
          <a:xfrm>
            <a:off x="5074920" y="1691640"/>
            <a:ext cx="3383280" cy="411480"/>
          </a:xfrm>
          <a:prstGeom prst="rect">
            <a:avLst/>
          </a:prstGeom>
          <a:noFill/>
          <a:ln/>
        </p:spPr>
        <p:txBody>
          <a:bodyPr wrap="square" lIns="0" tIns="0" rIns="0" bIns="0" rtlCol="0" anchor="ctr"/>
          <a:lstStyle/>
          <a:p>
            <a:pPr indent="0" marL="0">
              <a:buNone/>
            </a:pPr>
            <a:r>
              <a:rPr lang="en-US" sz="2000" b="1" dirty="0">
                <a:solidFill>
                  <a:schemeClr val="bg1"/>
                </a:solidFill>
              </a:rPr>
              <a:t>EP2 · Agente con herramientas</a:t>
            </a:r>
            <a:endParaRPr lang="en-US" sz="2000" dirty="0"/>
          </a:p>
        </p:txBody>
      </p:sp>
      <p:sp>
        <p:nvSpPr>
          <p:cNvPr id="10" name="Text 8"/>
          <p:cNvSpPr txBox="1"/>
          <p:nvPr/>
        </p:nvSpPr>
        <p:spPr>
          <a:xfrm>
            <a:off x="5074920" y="2194560"/>
            <a:ext cx="338328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El LLM decide qué herramienta usar</a:t>
            </a:r>
            <a:endParaRPr lang="en-US" sz="1600" dirty="0"/>
          </a:p>
          <a:p>
            <a:pPr marL="342900" indent="-342900">
              <a:spcAft>
                <a:spcPts val="800"/>
              </a:spcAft>
              <a:buSzPct val="100000"/>
              <a:buChar char="•"/>
            </a:pPr>
            <a:r>
              <a:rPr lang="en-US" sz="1600" dirty="0">
                <a:solidFill>
                  <a:schemeClr val="bg1"/>
                </a:solidFill>
              </a:rPr>
              <a:t>Consulta, razonamiento y escritura</a:t>
            </a:r>
            <a:endParaRPr lang="en-US" sz="1600" dirty="0"/>
          </a:p>
          <a:p>
            <a:pPr marL="342900" indent="-342900">
              <a:spcAft>
                <a:spcPts val="800"/>
              </a:spcAft>
              <a:buSzPct val="100000"/>
              <a:buChar char="•"/>
            </a:pPr>
            <a:r>
              <a:rPr lang="en-US" sz="1600" dirty="0">
                <a:solidFill>
                  <a:schemeClr val="bg1"/>
                </a:solidFill>
              </a:rPr>
              <a:t>Memoria de corto y largo plazo</a:t>
            </a:r>
            <a:endParaRPr lang="en-US" sz="1600" dirty="0"/>
          </a:p>
          <a:p>
            <a:pPr marL="342900" indent="-342900">
              <a:spcAft>
                <a:spcPts val="800"/>
              </a:spcAft>
              <a:buSzPct val="100000"/>
              <a:buChar char="•"/>
            </a:pPr>
            <a:r>
              <a:rPr lang="en-US" sz="1600" dirty="0">
                <a:solidFill>
                  <a:schemeClr val="bg1"/>
                </a:solidFill>
              </a:rPr>
              <a:t>Re-planifica si algo no es posible</a:t>
            </a:r>
            <a:endParaRPr lang="en-US" sz="16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Orquestación del agente</a:t>
            </a:r>
            <a:endParaRPr lang="en-US" sz="3400" dirty="0"/>
          </a:p>
        </p:txBody>
      </p:sp>
      <p:pic>
        <p:nvPicPr>
          <p:cNvPr id="3" name="Diagrama de orquestación" descr="Diagrama de orquestación: paciente, orquestador, agente con cinco herramientas, memoria de corto plazo y trazabilidad">    </p:cNvPr>
          <p:cNvPicPr>
            <a:picLocks noChangeAspect="1"/>
          </p:cNvPicPr>
          <p:nvPr/>
        </p:nvPicPr>
        <p:blipFill>
          <a:blip r:embed="rId1"/>
          <a:stretch>
            <a:fillRect/>
          </a:stretch>
        </p:blipFill>
        <p:spPr>
          <a:xfrm>
            <a:off x="1371600" y="914400"/>
            <a:ext cx="6400800" cy="4096512"/>
          </a:xfrm>
          <a:prstGeom prst="rect">
            <a:avLst/>
          </a:prstGeom>
        </p:spPr>
      </p:pic>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Herramientas y framework</a:t>
            </a:r>
            <a:endParaRPr lang="en-US" sz="3400" dirty="0"/>
          </a:p>
        </p:txBody>
      </p:sp>
      <p:sp>
        <p:nvSpPr>
          <p:cNvPr id="3" name="Icono buscar_informacion_clinica fondo"/>
          <p:cNvSpPr/>
          <p:nvPr/>
        </p:nvSpPr>
        <p:spPr>
          <a:xfrm>
            <a:off x="457200" y="1097280"/>
            <a:ext cx="512064" cy="512064"/>
          </a:xfrm>
          <a:prstGeom prst="ellipse">
            <a:avLst/>
          </a:prstGeom>
          <a:solidFill>
            <a:schemeClr val="accent1"/>
          </a:solidFill>
          <a:ln w="12700">
            <a:solidFill>
              <a:schemeClr val="accent1"/>
            </a:solidFill>
            <a:prstDash val="solid"/>
          </a:ln>
        </p:spPr>
      </p:sp>
      <p:pic>
        <p:nvPicPr>
          <p:cNvPr id="4" name="Icono buscar_informacion_clinica" descr="Icono buscar_informacion_clinica">    </p:cNvPr>
          <p:cNvPicPr>
            <a:picLocks noChangeAspect="1"/>
          </p:cNvPicPr>
          <p:nvPr/>
        </p:nvPicPr>
        <p:blipFill>
          <a:blip r:embed="rId1"/>
          <a:stretch>
            <a:fillRect/>
          </a:stretch>
        </p:blipFill>
        <p:spPr>
          <a:xfrm>
            <a:off x="585216" y="1225296"/>
            <a:ext cx="256032" cy="256032"/>
          </a:xfrm>
          <a:prstGeom prst="rect">
            <a:avLst/>
          </a:prstGeom>
        </p:spPr>
      </p:pic>
      <p:sp>
        <p:nvSpPr>
          <p:cNvPr id="5" name="Text 2"/>
          <p:cNvSpPr txBox="1"/>
          <p:nvPr/>
        </p:nvSpPr>
        <p:spPr>
          <a:xfrm>
            <a:off x="1097280" y="1078992"/>
            <a:ext cx="4480560" cy="292608"/>
          </a:xfrm>
          <a:prstGeom prst="rect">
            <a:avLst/>
          </a:prstGeom>
          <a:noFill/>
          <a:ln/>
        </p:spPr>
        <p:txBody>
          <a:bodyPr wrap="square" lIns="0" tIns="0" rIns="0" bIns="0" rtlCol="0" anchor="ctr"/>
          <a:lstStyle/>
          <a:p>
            <a:pPr indent="0" marL="0">
              <a:buNone/>
            </a:pPr>
            <a:r>
              <a:rPr lang="en-US" sz="1600" b="1" dirty="0">
                <a:solidFill>
                  <a:schemeClr val="tx1"/>
                </a:solidFill>
              </a:rPr>
              <a:t>buscar_informacion_clinica</a:t>
            </a:r>
            <a:endParaRPr lang="en-US" sz="1600" dirty="0"/>
          </a:p>
        </p:txBody>
      </p:sp>
      <p:sp>
        <p:nvSpPr>
          <p:cNvPr id="6" name="Text 3"/>
          <p:cNvSpPr txBox="1"/>
          <p:nvPr/>
        </p:nvSpPr>
        <p:spPr>
          <a:xfrm>
            <a:off x="1097280" y="1362456"/>
            <a:ext cx="4480560" cy="237744"/>
          </a:xfrm>
          <a:prstGeom prst="rect">
            <a:avLst/>
          </a:prstGeom>
          <a:noFill/>
          <a:ln/>
        </p:spPr>
        <p:txBody>
          <a:bodyPr wrap="square" lIns="0" tIns="0" rIns="0" bIns="0" rtlCol="0" anchor="ctr"/>
          <a:lstStyle/>
          <a:p>
            <a:pPr indent="0" marL="0">
              <a:buNone/>
            </a:pPr>
            <a:r>
              <a:rPr lang="en-US" sz="1200" dirty="0">
                <a:solidFill>
                  <a:schemeClr val="accent6"/>
                </a:solidFill>
              </a:rPr>
              <a:t>Consulta · RAG con fuente</a:t>
            </a:r>
            <a:endParaRPr lang="en-US" sz="1200" dirty="0"/>
          </a:p>
        </p:txBody>
      </p:sp>
      <p:sp>
        <p:nvSpPr>
          <p:cNvPr id="7" name="Icono consultar_memoria_paciente fondo"/>
          <p:cNvSpPr/>
          <p:nvPr/>
        </p:nvSpPr>
        <p:spPr>
          <a:xfrm>
            <a:off x="457200" y="1773936"/>
            <a:ext cx="512064" cy="512064"/>
          </a:xfrm>
          <a:prstGeom prst="ellipse">
            <a:avLst/>
          </a:prstGeom>
          <a:solidFill>
            <a:schemeClr val="accent1"/>
          </a:solidFill>
          <a:ln w="12700">
            <a:solidFill>
              <a:schemeClr val="accent1"/>
            </a:solidFill>
            <a:prstDash val="solid"/>
          </a:ln>
        </p:spPr>
      </p:sp>
      <p:pic>
        <p:nvPicPr>
          <p:cNvPr id="8" name="Icono consultar_memoria_paciente" descr="Icono consultar_memoria_paciente">    </p:cNvPr>
          <p:cNvPicPr>
            <a:picLocks noChangeAspect="1"/>
          </p:cNvPicPr>
          <p:nvPr/>
        </p:nvPicPr>
        <p:blipFill>
          <a:blip r:embed="rId2"/>
          <a:stretch>
            <a:fillRect/>
          </a:stretch>
        </p:blipFill>
        <p:spPr>
          <a:xfrm>
            <a:off x="585216" y="1901952"/>
            <a:ext cx="256032" cy="256032"/>
          </a:xfrm>
          <a:prstGeom prst="rect">
            <a:avLst/>
          </a:prstGeom>
        </p:spPr>
      </p:pic>
      <p:sp>
        <p:nvSpPr>
          <p:cNvPr id="9" name="Text 5"/>
          <p:cNvSpPr txBox="1"/>
          <p:nvPr/>
        </p:nvSpPr>
        <p:spPr>
          <a:xfrm>
            <a:off x="1097280" y="1755648"/>
            <a:ext cx="4480560" cy="292608"/>
          </a:xfrm>
          <a:prstGeom prst="rect">
            <a:avLst/>
          </a:prstGeom>
          <a:noFill/>
          <a:ln/>
        </p:spPr>
        <p:txBody>
          <a:bodyPr wrap="square" lIns="0" tIns="0" rIns="0" bIns="0" rtlCol="0" anchor="ctr"/>
          <a:lstStyle/>
          <a:p>
            <a:pPr indent="0" marL="0">
              <a:buNone/>
            </a:pPr>
            <a:r>
              <a:rPr lang="en-US" sz="1600" b="1" dirty="0">
                <a:solidFill>
                  <a:schemeClr val="tx1"/>
                </a:solidFill>
              </a:rPr>
              <a:t>consultar_memoria_paciente</a:t>
            </a:r>
            <a:endParaRPr lang="en-US" sz="1600" dirty="0"/>
          </a:p>
        </p:txBody>
      </p:sp>
      <p:sp>
        <p:nvSpPr>
          <p:cNvPr id="10" name="Text 6"/>
          <p:cNvSpPr txBox="1"/>
          <p:nvPr/>
        </p:nvSpPr>
        <p:spPr>
          <a:xfrm>
            <a:off x="1097280" y="2039112"/>
            <a:ext cx="4480560" cy="237744"/>
          </a:xfrm>
          <a:prstGeom prst="rect">
            <a:avLst/>
          </a:prstGeom>
          <a:noFill/>
          <a:ln/>
        </p:spPr>
        <p:txBody>
          <a:bodyPr wrap="square" lIns="0" tIns="0" rIns="0" bIns="0" rtlCol="0" anchor="ctr"/>
          <a:lstStyle/>
          <a:p>
            <a:pPr indent="0" marL="0">
              <a:buNone/>
            </a:pPr>
            <a:r>
              <a:rPr lang="en-US" sz="1200" dirty="0">
                <a:solidFill>
                  <a:schemeClr val="accent6"/>
                </a:solidFill>
              </a:rPr>
              <a:t>Consulta · antecedentes por RUT</a:t>
            </a:r>
            <a:endParaRPr lang="en-US" sz="1200" dirty="0"/>
          </a:p>
        </p:txBody>
      </p:sp>
      <p:sp>
        <p:nvSpPr>
          <p:cNvPr id="11" name="Icono verificar_disponibilidad fondo"/>
          <p:cNvSpPr/>
          <p:nvPr/>
        </p:nvSpPr>
        <p:spPr>
          <a:xfrm>
            <a:off x="457200" y="2450592"/>
            <a:ext cx="512064" cy="512064"/>
          </a:xfrm>
          <a:prstGeom prst="ellipse">
            <a:avLst/>
          </a:prstGeom>
          <a:solidFill>
            <a:schemeClr val="accent3"/>
          </a:solidFill>
          <a:ln w="12700">
            <a:solidFill>
              <a:schemeClr val="accent3"/>
            </a:solidFill>
            <a:prstDash val="solid"/>
          </a:ln>
        </p:spPr>
      </p:sp>
      <p:pic>
        <p:nvPicPr>
          <p:cNvPr id="12" name="Icono verificar_disponibilidad" descr="Icono verificar_disponibilidad">    </p:cNvPr>
          <p:cNvPicPr>
            <a:picLocks noChangeAspect="1"/>
          </p:cNvPicPr>
          <p:nvPr/>
        </p:nvPicPr>
        <p:blipFill>
          <a:blip r:embed="rId3"/>
          <a:stretch>
            <a:fillRect/>
          </a:stretch>
        </p:blipFill>
        <p:spPr>
          <a:xfrm>
            <a:off x="585216" y="2578608"/>
            <a:ext cx="256032" cy="256032"/>
          </a:xfrm>
          <a:prstGeom prst="rect">
            <a:avLst/>
          </a:prstGeom>
        </p:spPr>
      </p:pic>
      <p:sp>
        <p:nvSpPr>
          <p:cNvPr id="13" name="Text 8"/>
          <p:cNvSpPr txBox="1"/>
          <p:nvPr/>
        </p:nvSpPr>
        <p:spPr>
          <a:xfrm>
            <a:off x="1097280" y="2432304"/>
            <a:ext cx="4480560" cy="292608"/>
          </a:xfrm>
          <a:prstGeom prst="rect">
            <a:avLst/>
          </a:prstGeom>
          <a:noFill/>
          <a:ln/>
        </p:spPr>
        <p:txBody>
          <a:bodyPr wrap="square" lIns="0" tIns="0" rIns="0" bIns="0" rtlCol="0" anchor="ctr"/>
          <a:lstStyle/>
          <a:p>
            <a:pPr indent="0" marL="0">
              <a:buNone/>
            </a:pPr>
            <a:r>
              <a:rPr lang="en-US" sz="1600" b="1" dirty="0">
                <a:solidFill>
                  <a:schemeClr val="tx1"/>
                </a:solidFill>
              </a:rPr>
              <a:t>verificar_disponibilidad</a:t>
            </a:r>
            <a:endParaRPr lang="en-US" sz="1600" dirty="0"/>
          </a:p>
        </p:txBody>
      </p:sp>
      <p:sp>
        <p:nvSpPr>
          <p:cNvPr id="14" name="Text 9"/>
          <p:cNvSpPr txBox="1"/>
          <p:nvPr/>
        </p:nvSpPr>
        <p:spPr>
          <a:xfrm>
            <a:off x="1097280" y="2715768"/>
            <a:ext cx="4480560" cy="237744"/>
          </a:xfrm>
          <a:prstGeom prst="rect">
            <a:avLst/>
          </a:prstGeom>
          <a:noFill/>
          <a:ln/>
        </p:spPr>
        <p:txBody>
          <a:bodyPr wrap="square" lIns="0" tIns="0" rIns="0" bIns="0" rtlCol="0" anchor="ctr"/>
          <a:lstStyle/>
          <a:p>
            <a:pPr indent="0" marL="0">
              <a:buNone/>
            </a:pPr>
            <a:r>
              <a:rPr lang="en-US" sz="1200" dirty="0">
                <a:solidFill>
                  <a:schemeClr val="accent6"/>
                </a:solidFill>
              </a:rPr>
              <a:t>Razonamiento · cupo por día</a:t>
            </a:r>
            <a:endParaRPr lang="en-US" sz="1200" dirty="0"/>
          </a:p>
        </p:txBody>
      </p:sp>
      <p:sp>
        <p:nvSpPr>
          <p:cNvPr id="15" name="Icono registrar_solicitud fondo"/>
          <p:cNvSpPr/>
          <p:nvPr/>
        </p:nvSpPr>
        <p:spPr>
          <a:xfrm>
            <a:off x="457200" y="3127248"/>
            <a:ext cx="512064" cy="512064"/>
          </a:xfrm>
          <a:prstGeom prst="ellipse">
            <a:avLst/>
          </a:prstGeom>
          <a:solidFill>
            <a:schemeClr val="accent4"/>
          </a:solidFill>
          <a:ln w="12700">
            <a:solidFill>
              <a:schemeClr val="accent4"/>
            </a:solidFill>
            <a:prstDash val="solid"/>
          </a:ln>
        </p:spPr>
      </p:sp>
      <p:pic>
        <p:nvPicPr>
          <p:cNvPr id="16" name="Icono registrar_solicitud" descr="Icono registrar_solicitud">    </p:cNvPr>
          <p:cNvPicPr>
            <a:picLocks noChangeAspect="1"/>
          </p:cNvPicPr>
          <p:nvPr/>
        </p:nvPicPr>
        <p:blipFill>
          <a:blip r:embed="rId4"/>
          <a:stretch>
            <a:fillRect/>
          </a:stretch>
        </p:blipFill>
        <p:spPr>
          <a:xfrm>
            <a:off x="585216" y="3255264"/>
            <a:ext cx="256032" cy="256032"/>
          </a:xfrm>
          <a:prstGeom prst="rect">
            <a:avLst/>
          </a:prstGeom>
        </p:spPr>
      </p:pic>
      <p:sp>
        <p:nvSpPr>
          <p:cNvPr id="17" name="Text 11"/>
          <p:cNvSpPr txBox="1"/>
          <p:nvPr/>
        </p:nvSpPr>
        <p:spPr>
          <a:xfrm>
            <a:off x="1097280" y="3108960"/>
            <a:ext cx="4480560" cy="292608"/>
          </a:xfrm>
          <a:prstGeom prst="rect">
            <a:avLst/>
          </a:prstGeom>
          <a:noFill/>
          <a:ln/>
        </p:spPr>
        <p:txBody>
          <a:bodyPr wrap="square" lIns="0" tIns="0" rIns="0" bIns="0" rtlCol="0" anchor="ctr"/>
          <a:lstStyle/>
          <a:p>
            <a:pPr indent="0" marL="0">
              <a:buNone/>
            </a:pPr>
            <a:r>
              <a:rPr lang="en-US" sz="1600" b="1" dirty="0">
                <a:solidFill>
                  <a:schemeClr val="tx1"/>
                </a:solidFill>
              </a:rPr>
              <a:t>registrar_solicitud</a:t>
            </a:r>
            <a:endParaRPr lang="en-US" sz="1600" dirty="0"/>
          </a:p>
        </p:txBody>
      </p:sp>
      <p:sp>
        <p:nvSpPr>
          <p:cNvPr id="18" name="Text 12"/>
          <p:cNvSpPr txBox="1"/>
          <p:nvPr/>
        </p:nvSpPr>
        <p:spPr>
          <a:xfrm>
            <a:off x="1097280" y="3392424"/>
            <a:ext cx="4480560" cy="237744"/>
          </a:xfrm>
          <a:prstGeom prst="rect">
            <a:avLst/>
          </a:prstGeom>
          <a:noFill/>
          <a:ln/>
        </p:spPr>
        <p:txBody>
          <a:bodyPr wrap="square" lIns="0" tIns="0" rIns="0" bIns="0" rtlCol="0" anchor="ctr"/>
          <a:lstStyle/>
          <a:p>
            <a:pPr indent="0" marL="0">
              <a:buNone/>
            </a:pPr>
            <a:r>
              <a:rPr lang="en-US" sz="1200" dirty="0">
                <a:solidFill>
                  <a:schemeClr val="accent6"/>
                </a:solidFill>
              </a:rPr>
              <a:t>Escritura · hora o derivación</a:t>
            </a:r>
            <a:endParaRPr lang="en-US" sz="1200" dirty="0"/>
          </a:p>
        </p:txBody>
      </p:sp>
      <p:sp>
        <p:nvSpPr>
          <p:cNvPr id="19" name="Icono redactar_mensaje_recepcion fondo"/>
          <p:cNvSpPr/>
          <p:nvPr/>
        </p:nvSpPr>
        <p:spPr>
          <a:xfrm>
            <a:off x="457200" y="3803904"/>
            <a:ext cx="512064" cy="512064"/>
          </a:xfrm>
          <a:prstGeom prst="ellipse">
            <a:avLst/>
          </a:prstGeom>
          <a:solidFill>
            <a:schemeClr val="accent4"/>
          </a:solidFill>
          <a:ln w="12700">
            <a:solidFill>
              <a:schemeClr val="accent4"/>
            </a:solidFill>
            <a:prstDash val="solid"/>
          </a:ln>
        </p:spPr>
      </p:sp>
      <p:pic>
        <p:nvPicPr>
          <p:cNvPr id="20" name="Icono redactar_mensaje_recepcion" descr="Icono redactar_mensaje_recepcion">    </p:cNvPr>
          <p:cNvPicPr>
            <a:picLocks noChangeAspect="1"/>
          </p:cNvPicPr>
          <p:nvPr/>
        </p:nvPicPr>
        <p:blipFill>
          <a:blip r:embed="rId5"/>
          <a:stretch>
            <a:fillRect/>
          </a:stretch>
        </p:blipFill>
        <p:spPr>
          <a:xfrm>
            <a:off x="585216" y="3931920"/>
            <a:ext cx="256032" cy="256032"/>
          </a:xfrm>
          <a:prstGeom prst="rect">
            <a:avLst/>
          </a:prstGeom>
        </p:spPr>
      </p:pic>
      <p:sp>
        <p:nvSpPr>
          <p:cNvPr id="21" name="Text 14"/>
          <p:cNvSpPr txBox="1"/>
          <p:nvPr/>
        </p:nvSpPr>
        <p:spPr>
          <a:xfrm>
            <a:off x="1097280" y="3785616"/>
            <a:ext cx="4480560" cy="292608"/>
          </a:xfrm>
          <a:prstGeom prst="rect">
            <a:avLst/>
          </a:prstGeom>
          <a:noFill/>
          <a:ln/>
        </p:spPr>
        <p:txBody>
          <a:bodyPr wrap="square" lIns="0" tIns="0" rIns="0" bIns="0" rtlCol="0" anchor="ctr"/>
          <a:lstStyle/>
          <a:p>
            <a:pPr indent="0" marL="0">
              <a:buNone/>
            </a:pPr>
            <a:r>
              <a:rPr lang="en-US" sz="1600" b="1" dirty="0">
                <a:solidFill>
                  <a:schemeClr val="tx1"/>
                </a:solidFill>
              </a:rPr>
              <a:t>redactar_mensaje_recepcion</a:t>
            </a:r>
            <a:endParaRPr lang="en-US" sz="1600" dirty="0"/>
          </a:p>
        </p:txBody>
      </p:sp>
      <p:sp>
        <p:nvSpPr>
          <p:cNvPr id="22" name="Text 15"/>
          <p:cNvSpPr txBox="1"/>
          <p:nvPr/>
        </p:nvSpPr>
        <p:spPr>
          <a:xfrm>
            <a:off x="1097280" y="4069080"/>
            <a:ext cx="4480560" cy="237744"/>
          </a:xfrm>
          <a:prstGeom prst="rect">
            <a:avLst/>
          </a:prstGeom>
          <a:noFill/>
          <a:ln/>
        </p:spPr>
        <p:txBody>
          <a:bodyPr wrap="square" lIns="0" tIns="0" rIns="0" bIns="0" rtlCol="0" anchor="ctr"/>
          <a:lstStyle/>
          <a:p>
            <a:pPr indent="0" marL="0">
              <a:buNone/>
            </a:pPr>
            <a:r>
              <a:rPr lang="en-US" sz="1200" dirty="0">
                <a:solidFill>
                  <a:schemeClr val="accent6"/>
                </a:solidFill>
              </a:rPr>
              <a:t>Escritura · borrador para recepción</a:t>
            </a:r>
            <a:endParaRPr lang="en-US" sz="1200" dirty="0"/>
          </a:p>
        </p:txBody>
      </p:sp>
      <p:sp>
        <p:nvSpPr>
          <p:cNvPr id="23" name="Tarjeta framework"/>
          <p:cNvSpPr/>
          <p:nvPr/>
        </p:nvSpPr>
        <p:spPr>
          <a:xfrm>
            <a:off x="5852160" y="1097280"/>
            <a:ext cx="2834640" cy="3337560"/>
          </a:xfrm>
          <a:prstGeom prst="roundRect">
            <a:avLst>
              <a:gd name="adj" fmla="val 2581"/>
            </a:avLst>
          </a:prstGeom>
          <a:solidFill>
            <a:schemeClr val="bg2"/>
          </a:solidFill>
          <a:ln w="12700">
            <a:solidFill>
              <a:schemeClr val="bg2"/>
            </a:solidFill>
            <a:prstDash val="solid"/>
          </a:ln>
        </p:spPr>
      </p:sp>
      <p:sp>
        <p:nvSpPr>
          <p:cNvPr id="24" name="Text 17"/>
          <p:cNvSpPr txBox="1"/>
          <p:nvPr/>
        </p:nvSpPr>
        <p:spPr>
          <a:xfrm>
            <a:off x="6035040" y="1234440"/>
            <a:ext cx="2468880" cy="365760"/>
          </a:xfrm>
          <a:prstGeom prst="rect">
            <a:avLst/>
          </a:prstGeom>
          <a:noFill/>
          <a:ln/>
        </p:spPr>
        <p:txBody>
          <a:bodyPr wrap="square" lIns="0" tIns="0" rIns="0" bIns="0" rtlCol="0" anchor="ctr"/>
          <a:lstStyle/>
          <a:p>
            <a:pPr indent="0" marL="0">
              <a:buNone/>
            </a:pPr>
            <a:r>
              <a:rPr lang="en-US" sz="1800" b="1" dirty="0">
                <a:solidFill>
                  <a:schemeClr val="tx2"/>
                </a:solidFill>
              </a:rPr>
              <a:t>Por qué tool calling</a:t>
            </a:r>
            <a:endParaRPr lang="en-US" sz="1800" dirty="0"/>
          </a:p>
        </p:txBody>
      </p:sp>
      <p:sp>
        <p:nvSpPr>
          <p:cNvPr id="25" name="Text 18"/>
          <p:cNvSpPr txBox="1"/>
          <p:nvPr/>
        </p:nvSpPr>
        <p:spPr>
          <a:xfrm>
            <a:off x="6035040" y="1691640"/>
            <a:ext cx="251460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LangChain AgentExecutor</a:t>
            </a:r>
            <a:endParaRPr lang="en-US" sz="1400" dirty="0"/>
          </a:p>
          <a:p>
            <a:pPr marL="342900" indent="-342900">
              <a:spcAft>
                <a:spcPts val="800"/>
              </a:spcAft>
              <a:buSzPct val="100000"/>
              <a:buChar char="•"/>
            </a:pPr>
            <a:r>
              <a:rPr lang="en-US" sz="1400" dirty="0">
                <a:solidFill>
                  <a:schemeClr val="tx1"/>
                </a:solidFill>
              </a:rPr>
              <a:t>El LLM elige la herramienta por su docstring</a:t>
            </a:r>
            <a:endParaRPr lang="en-US" sz="1400" dirty="0"/>
          </a:p>
          <a:p>
            <a:pPr marL="342900" indent="-342900">
              <a:spcAft>
                <a:spcPts val="800"/>
              </a:spcAft>
              <a:buSzPct val="100000"/>
              <a:buChar char="•"/>
            </a:pPr>
            <a:r>
              <a:rPr lang="en-US" sz="1400" dirty="0">
                <a:solidFill>
                  <a:schemeClr val="tx1"/>
                </a:solidFill>
              </a:rPr>
              <a:t>Agregar una: función + @tool</a:t>
            </a:r>
            <a:endParaRPr lang="en-US" sz="1400" dirty="0"/>
          </a:p>
          <a:p>
            <a:pPr marL="342900" indent="-342900">
              <a:spcAft>
                <a:spcPts val="800"/>
              </a:spcAft>
              <a:buSzPct val="100000"/>
              <a:buChar char="•"/>
            </a:pPr>
            <a:r>
              <a:rPr lang="en-US" sz="1400" dirty="0">
                <a:solidFill>
                  <a:schemeClr val="tx1"/>
                </a:solidFill>
              </a:rPr>
              <a:t>Reemplaza el if/else de EP1</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Memoria y recuperación de contexto</a:t>
            </a:r>
            <a:endParaRPr lang="en-US" sz="3400" dirty="0"/>
          </a:p>
        </p:txBody>
      </p:sp>
      <p:sp>
        <p:nvSpPr>
          <p:cNvPr id="3" name="Tarjeta Corto plazo"/>
          <p:cNvSpPr/>
          <p:nvPr/>
        </p:nvSpPr>
        <p:spPr>
          <a:xfrm>
            <a:off x="457200" y="1097280"/>
            <a:ext cx="2651760" cy="2788920"/>
          </a:xfrm>
          <a:prstGeom prst="roundRect">
            <a:avLst>
              <a:gd name="adj" fmla="val 2759"/>
            </a:avLst>
          </a:prstGeom>
          <a:solidFill>
            <a:schemeClr val="bg2"/>
          </a:solidFill>
          <a:ln w="12700">
            <a:solidFill>
              <a:schemeClr val="bg2"/>
            </a:solidFill>
            <a:prstDash val="solid"/>
          </a:ln>
        </p:spPr>
      </p:sp>
      <p:sp>
        <p:nvSpPr>
          <p:cNvPr id="4" name="Icono Corto plazo fondo"/>
          <p:cNvSpPr/>
          <p:nvPr/>
        </p:nvSpPr>
        <p:spPr>
          <a:xfrm>
            <a:off x="640080" y="1261872"/>
            <a:ext cx="548640" cy="548640"/>
          </a:xfrm>
          <a:prstGeom prst="ellipse">
            <a:avLst/>
          </a:prstGeom>
          <a:solidFill>
            <a:schemeClr val="accent5"/>
          </a:solidFill>
          <a:ln w="12700">
            <a:solidFill>
              <a:schemeClr val="accent5"/>
            </a:solidFill>
            <a:prstDash val="solid"/>
          </a:ln>
        </p:spPr>
      </p:sp>
      <p:pic>
        <p:nvPicPr>
          <p:cNvPr id="5" name="Icono Corto plazo" descr="Icono Corto plazo">    </p:cNvPr>
          <p:cNvPicPr>
            <a:picLocks noChangeAspect="1"/>
          </p:cNvPicPr>
          <p:nvPr/>
        </p:nvPicPr>
        <p:blipFill>
          <a:blip r:embed="rId1"/>
          <a:stretch>
            <a:fillRect/>
          </a:stretch>
        </p:blipFill>
        <p:spPr>
          <a:xfrm>
            <a:off x="777240" y="1399032"/>
            <a:ext cx="274320" cy="274320"/>
          </a:xfrm>
          <a:prstGeom prst="rect">
            <a:avLst/>
          </a:prstGeom>
        </p:spPr>
      </p:pic>
      <p:sp>
        <p:nvSpPr>
          <p:cNvPr id="6" name="Text 3"/>
          <p:cNvSpPr txBox="1"/>
          <p:nvPr/>
        </p:nvSpPr>
        <p:spPr>
          <a:xfrm>
            <a:off x="640080" y="1920240"/>
            <a:ext cx="2286000" cy="365760"/>
          </a:xfrm>
          <a:prstGeom prst="rect">
            <a:avLst/>
          </a:prstGeom>
          <a:noFill/>
          <a:ln/>
        </p:spPr>
        <p:txBody>
          <a:bodyPr wrap="square" lIns="0" tIns="0" rIns="0" bIns="0" rtlCol="0" anchor="ctr"/>
          <a:lstStyle/>
          <a:p>
            <a:pPr indent="0" marL="0">
              <a:buNone/>
            </a:pPr>
            <a:r>
              <a:rPr lang="en-US" sz="1800" b="1" dirty="0">
                <a:solidFill>
                  <a:schemeClr val="tx2"/>
                </a:solidFill>
              </a:rPr>
              <a:t>Corto plazo</a:t>
            </a:r>
            <a:endParaRPr lang="en-US" sz="1800" dirty="0"/>
          </a:p>
        </p:txBody>
      </p:sp>
      <p:sp>
        <p:nvSpPr>
          <p:cNvPr id="7" name="Text 4"/>
          <p:cNvSpPr txBox="1"/>
          <p:nvPr/>
        </p:nvSpPr>
        <p:spPr>
          <a:xfrm>
            <a:off x="640080" y="2377440"/>
            <a:ext cx="2331720" cy="1417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Resumen por RUT, guardado en SQLite</a:t>
            </a:r>
            <a:endParaRPr lang="en-US" sz="1400" dirty="0"/>
          </a:p>
          <a:p>
            <a:pPr marL="342900" indent="-342900">
              <a:spcAft>
                <a:spcPts val="600"/>
              </a:spcAft>
              <a:buSzPct val="100000"/>
              <a:buChar char="•"/>
            </a:pPr>
            <a:r>
              <a:rPr lang="en-US" sz="1400" dirty="0">
                <a:solidFill>
                  <a:schemeClr val="tx1"/>
                </a:solidFill>
              </a:rPr>
              <a:t>Resume los turnos antiguos sobre 800 tokens</a:t>
            </a:r>
            <a:endParaRPr lang="en-US" sz="1400" dirty="0"/>
          </a:p>
        </p:txBody>
      </p:sp>
      <p:sp>
        <p:nvSpPr>
          <p:cNvPr id="8" name="Tarjeta Largo plazo"/>
          <p:cNvSpPr/>
          <p:nvPr/>
        </p:nvSpPr>
        <p:spPr>
          <a:xfrm>
            <a:off x="3246120" y="1097280"/>
            <a:ext cx="2651760" cy="2788920"/>
          </a:xfrm>
          <a:prstGeom prst="roundRect">
            <a:avLst>
              <a:gd name="adj" fmla="val 2759"/>
            </a:avLst>
          </a:prstGeom>
          <a:solidFill>
            <a:schemeClr val="bg2"/>
          </a:solidFill>
          <a:ln w="12700">
            <a:solidFill>
              <a:schemeClr val="bg2"/>
            </a:solidFill>
            <a:prstDash val="solid"/>
          </a:ln>
        </p:spPr>
      </p:sp>
      <p:sp>
        <p:nvSpPr>
          <p:cNvPr id="9" name="Icono Largo plazo fondo"/>
          <p:cNvSpPr/>
          <p:nvPr/>
        </p:nvSpPr>
        <p:spPr>
          <a:xfrm>
            <a:off x="3429000" y="1261872"/>
            <a:ext cx="548640" cy="548640"/>
          </a:xfrm>
          <a:prstGeom prst="ellipse">
            <a:avLst/>
          </a:prstGeom>
          <a:solidFill>
            <a:schemeClr val="accent6"/>
          </a:solidFill>
          <a:ln w="12700">
            <a:solidFill>
              <a:schemeClr val="accent6"/>
            </a:solidFill>
            <a:prstDash val="solid"/>
          </a:ln>
        </p:spPr>
      </p:sp>
      <p:pic>
        <p:nvPicPr>
          <p:cNvPr id="10" name="Icono Largo plazo" descr="Icono Largo plazo">    </p:cNvPr>
          <p:cNvPicPr>
            <a:picLocks noChangeAspect="1"/>
          </p:cNvPicPr>
          <p:nvPr/>
        </p:nvPicPr>
        <p:blipFill>
          <a:blip r:embed="rId2"/>
          <a:stretch>
            <a:fillRect/>
          </a:stretch>
        </p:blipFill>
        <p:spPr>
          <a:xfrm>
            <a:off x="3566160" y="1399032"/>
            <a:ext cx="274320" cy="274320"/>
          </a:xfrm>
          <a:prstGeom prst="rect">
            <a:avLst/>
          </a:prstGeom>
        </p:spPr>
      </p:pic>
      <p:sp>
        <p:nvSpPr>
          <p:cNvPr id="11" name="Text 7"/>
          <p:cNvSpPr txBox="1"/>
          <p:nvPr/>
        </p:nvSpPr>
        <p:spPr>
          <a:xfrm>
            <a:off x="3429000" y="1920240"/>
            <a:ext cx="2286000" cy="365760"/>
          </a:xfrm>
          <a:prstGeom prst="rect">
            <a:avLst/>
          </a:prstGeom>
          <a:noFill/>
          <a:ln/>
        </p:spPr>
        <p:txBody>
          <a:bodyPr wrap="square" lIns="0" tIns="0" rIns="0" bIns="0" rtlCol="0" anchor="ctr"/>
          <a:lstStyle/>
          <a:p>
            <a:pPr indent="0" marL="0">
              <a:buNone/>
            </a:pPr>
            <a:r>
              <a:rPr lang="en-US" sz="1800" b="1" dirty="0">
                <a:solidFill>
                  <a:schemeClr val="tx2"/>
                </a:solidFill>
              </a:rPr>
              <a:t>Largo plazo</a:t>
            </a:r>
            <a:endParaRPr lang="en-US" sz="1800" dirty="0"/>
          </a:p>
        </p:txBody>
      </p:sp>
      <p:sp>
        <p:nvSpPr>
          <p:cNvPr id="12" name="Text 8"/>
          <p:cNvSpPr txBox="1"/>
          <p:nvPr/>
        </p:nvSpPr>
        <p:spPr>
          <a:xfrm>
            <a:off x="3429000" y="2377440"/>
            <a:ext cx="2331720" cy="1417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Archivo JSON indexado por RUT</a:t>
            </a:r>
            <a:endParaRPr lang="en-US" sz="1400" dirty="0"/>
          </a:p>
          <a:p>
            <a:pPr marL="342900" indent="-342900">
              <a:spcAft>
                <a:spcPts val="600"/>
              </a:spcAft>
              <a:buSzPct val="100000"/>
              <a:buChar char="•"/>
            </a:pPr>
            <a:r>
              <a:rPr lang="en-US" sz="1400" dirty="0">
                <a:solidFill>
                  <a:schemeClr val="tx1"/>
                </a:solidFill>
              </a:rPr>
              <a:t>Antecedentes de sesiones anteriores</a:t>
            </a:r>
            <a:endParaRPr lang="en-US" sz="1400" dirty="0"/>
          </a:p>
        </p:txBody>
      </p:sp>
      <p:sp>
        <p:nvSpPr>
          <p:cNvPr id="13" name="Tarjeta RAG semántico"/>
          <p:cNvSpPr/>
          <p:nvPr/>
        </p:nvSpPr>
        <p:spPr>
          <a:xfrm>
            <a:off x="6035040" y="1097280"/>
            <a:ext cx="2651760" cy="2788920"/>
          </a:xfrm>
          <a:prstGeom prst="roundRect">
            <a:avLst>
              <a:gd name="adj" fmla="val 2759"/>
            </a:avLst>
          </a:prstGeom>
          <a:solidFill>
            <a:schemeClr val="bg2"/>
          </a:solidFill>
          <a:ln w="12700">
            <a:solidFill>
              <a:schemeClr val="bg2"/>
            </a:solidFill>
            <a:prstDash val="solid"/>
          </a:ln>
        </p:spPr>
      </p:sp>
      <p:sp>
        <p:nvSpPr>
          <p:cNvPr id="14" name="Icono RAG semántico fondo"/>
          <p:cNvSpPr/>
          <p:nvPr/>
        </p:nvSpPr>
        <p:spPr>
          <a:xfrm>
            <a:off x="6217920" y="1261872"/>
            <a:ext cx="548640" cy="548640"/>
          </a:xfrm>
          <a:prstGeom prst="ellipse">
            <a:avLst/>
          </a:prstGeom>
          <a:solidFill>
            <a:schemeClr val="accent1"/>
          </a:solidFill>
          <a:ln w="12700">
            <a:solidFill>
              <a:schemeClr val="accent1"/>
            </a:solidFill>
            <a:prstDash val="solid"/>
          </a:ln>
        </p:spPr>
      </p:sp>
      <p:pic>
        <p:nvPicPr>
          <p:cNvPr id="15" name="Icono RAG semántico" descr="Icono RAG semántico">    </p:cNvPr>
          <p:cNvPicPr>
            <a:picLocks noChangeAspect="1"/>
          </p:cNvPicPr>
          <p:nvPr/>
        </p:nvPicPr>
        <p:blipFill>
          <a:blip r:embed="rId3"/>
          <a:stretch>
            <a:fillRect/>
          </a:stretch>
        </p:blipFill>
        <p:spPr>
          <a:xfrm>
            <a:off x="6355080" y="1399032"/>
            <a:ext cx="274320" cy="274320"/>
          </a:xfrm>
          <a:prstGeom prst="rect">
            <a:avLst/>
          </a:prstGeom>
        </p:spPr>
      </p:pic>
      <p:sp>
        <p:nvSpPr>
          <p:cNvPr id="16" name="Text 11"/>
          <p:cNvSpPr txBox="1"/>
          <p:nvPr/>
        </p:nvSpPr>
        <p:spPr>
          <a:xfrm>
            <a:off x="6217920" y="1920240"/>
            <a:ext cx="2286000" cy="365760"/>
          </a:xfrm>
          <a:prstGeom prst="rect">
            <a:avLst/>
          </a:prstGeom>
          <a:noFill/>
          <a:ln/>
        </p:spPr>
        <p:txBody>
          <a:bodyPr wrap="square" lIns="0" tIns="0" rIns="0" bIns="0" rtlCol="0" anchor="ctr"/>
          <a:lstStyle/>
          <a:p>
            <a:pPr indent="0" marL="0">
              <a:buNone/>
            </a:pPr>
            <a:r>
              <a:rPr lang="en-US" sz="1800" b="1" dirty="0">
                <a:solidFill>
                  <a:schemeClr val="tx2"/>
                </a:solidFill>
              </a:rPr>
              <a:t>RAG semántico</a:t>
            </a:r>
            <a:endParaRPr lang="en-US" sz="1800" dirty="0"/>
          </a:p>
        </p:txBody>
      </p:sp>
      <p:sp>
        <p:nvSpPr>
          <p:cNvPr id="17" name="Text 12"/>
          <p:cNvSpPr txBox="1"/>
          <p:nvPr/>
        </p:nvSpPr>
        <p:spPr>
          <a:xfrm>
            <a:off x="6217920" y="2377440"/>
            <a:ext cx="2331720" cy="1417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ChromaDB con embeddings multilingües</a:t>
            </a:r>
            <a:endParaRPr lang="en-US" sz="1400" dirty="0"/>
          </a:p>
          <a:p>
            <a:pPr marL="342900" indent="-342900">
              <a:spcAft>
                <a:spcPts val="600"/>
              </a:spcAft>
              <a:buSzPct val="100000"/>
              <a:buChar char="•"/>
            </a:pPr>
            <a:r>
              <a:rPr lang="en-US" sz="1400" dirty="0">
                <a:solidFill>
                  <a:schemeClr val="tx1"/>
                </a:solidFill>
              </a:rPr>
              <a:t>Trae los 4 fragmentos más relevantes, con fuente</a:t>
            </a:r>
            <a:endParaRPr lang="en-US" sz="1400" dirty="0"/>
          </a:p>
        </p:txBody>
      </p:sp>
      <p:sp>
        <p:nvSpPr>
          <p:cNvPr id="18" name="Franja RUT"/>
          <p:cNvSpPr/>
          <p:nvPr/>
        </p:nvSpPr>
        <p:spPr>
          <a:xfrm>
            <a:off x="457200" y="4069080"/>
            <a:ext cx="8229600" cy="640080"/>
          </a:xfrm>
          <a:prstGeom prst="roundRect">
            <a:avLst>
              <a:gd name="adj" fmla="val 11429"/>
            </a:avLst>
          </a:prstGeom>
          <a:solidFill>
            <a:schemeClr val="tx2"/>
          </a:solidFill>
          <a:ln w="12700">
            <a:solidFill>
              <a:schemeClr val="tx2"/>
            </a:solidFill>
            <a:prstDash val="solid"/>
          </a:ln>
        </p:spPr>
      </p:sp>
      <p:sp>
        <p:nvSpPr>
          <p:cNvPr id="19" name="Text 14"/>
          <p:cNvSpPr txBox="1"/>
          <p:nvPr/>
        </p:nvSpPr>
        <p:spPr>
          <a:xfrm>
            <a:off x="640080" y="4069080"/>
            <a:ext cx="7863840" cy="640080"/>
          </a:xfrm>
          <a:prstGeom prst="rect">
            <a:avLst/>
          </a:prstGeom>
          <a:noFill/>
          <a:ln/>
        </p:spPr>
        <p:txBody>
          <a:bodyPr wrap="square" lIns="0" tIns="0" rIns="0" bIns="0" rtlCol="0" anchor="ctr"/>
          <a:lstStyle/>
          <a:p>
            <a:pPr indent="0" marL="0">
              <a:buNone/>
            </a:pPr>
            <a:r>
              <a:rPr lang="en-US" sz="1400" dirty="0">
                <a:solidFill>
                  <a:schemeClr val="bg1"/>
                </a:solidFill>
              </a:rPr>
              <a:t>Si el paciente da su RUT a mitad de la conversación, la memoria anónima se migra a ese RUT</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Planificación y decisiones adaptativas</a:t>
            </a:r>
            <a:endParaRPr lang="en-US" sz="3400" dirty="0"/>
          </a:p>
        </p:txBody>
      </p:sp>
      <p:sp>
        <p:nvSpPr>
          <p:cNvPr id="3" name="Paso 1"/>
          <p:cNvSpPr/>
          <p:nvPr/>
        </p:nvSpPr>
        <p:spPr>
          <a:xfrm>
            <a:off x="457200" y="1097280"/>
            <a:ext cx="1965960" cy="1417320"/>
          </a:xfrm>
          <a:prstGeom prst="roundRect">
            <a:avLst>
              <a:gd name="adj" fmla="val 5161"/>
            </a:avLst>
          </a:prstGeom>
          <a:solidFill>
            <a:schemeClr val="bg2"/>
          </a:solidFill>
          <a:ln w="12700">
            <a:solidFill>
              <a:schemeClr val="bg2"/>
            </a:solidFill>
            <a:prstDash val="solid"/>
          </a:ln>
        </p:spPr>
      </p:sp>
      <p:sp>
        <p:nvSpPr>
          <p:cNvPr id="4" name="Text 2"/>
          <p:cNvSpPr txBox="1"/>
          <p:nvPr/>
        </p:nvSpPr>
        <p:spPr>
          <a:xfrm>
            <a:off x="548640" y="1207008"/>
            <a:ext cx="1783080" cy="365760"/>
          </a:xfrm>
          <a:prstGeom prst="rect">
            <a:avLst/>
          </a:prstGeom>
          <a:noFill/>
          <a:ln/>
        </p:spPr>
        <p:txBody>
          <a:bodyPr wrap="square" lIns="0" tIns="0" rIns="0" bIns="0" rtlCol="0" anchor="ctr"/>
          <a:lstStyle/>
          <a:p>
            <a:pPr indent="0" marL="0">
              <a:buNone/>
            </a:pPr>
            <a:r>
              <a:rPr lang="en-US" sz="1600" b="1" dirty="0">
                <a:solidFill>
                  <a:schemeClr val="tx2"/>
                </a:solidFill>
              </a:rPr>
              <a:t>Pide hora el lunes</a:t>
            </a:r>
            <a:endParaRPr lang="en-US" sz="1600" dirty="0"/>
          </a:p>
        </p:txBody>
      </p:sp>
      <p:sp>
        <p:nvSpPr>
          <p:cNvPr id="5" name="Text 3"/>
          <p:cNvSpPr txBox="1"/>
          <p:nvPr/>
        </p:nvSpPr>
        <p:spPr>
          <a:xfrm>
            <a:off x="548640" y="1627632"/>
            <a:ext cx="1783080" cy="777240"/>
          </a:xfrm>
          <a:prstGeom prst="rect">
            <a:avLst/>
          </a:prstGeom>
          <a:noFill/>
          <a:ln/>
        </p:spPr>
        <p:txBody>
          <a:bodyPr wrap="square" lIns="0" tIns="0" rIns="0" bIns="0" rtlCol="0" anchor="t"/>
          <a:lstStyle/>
          <a:p>
            <a:pPr indent="0" marL="0">
              <a:buNone/>
            </a:pPr>
            <a:r>
              <a:rPr lang="en-US" sz="1200" dirty="0">
                <a:solidFill>
                  <a:schemeClr val="tx2"/>
                </a:solidFill>
              </a:rPr>
              <a:t>Dr. Soto, sin cupo ese día</a:t>
            </a:r>
            <a:endParaRPr lang="en-US" sz="1200" dirty="0"/>
          </a:p>
        </p:txBody>
      </p:sp>
      <p:sp>
        <p:nvSpPr>
          <p:cNvPr id="6" name="Paso 2"/>
          <p:cNvSpPr/>
          <p:nvPr/>
        </p:nvSpPr>
        <p:spPr>
          <a:xfrm>
            <a:off x="2544775" y="1097280"/>
            <a:ext cx="1965960" cy="1417320"/>
          </a:xfrm>
          <a:prstGeom prst="roundRect">
            <a:avLst>
              <a:gd name="adj" fmla="val 5161"/>
            </a:avLst>
          </a:prstGeom>
          <a:solidFill>
            <a:schemeClr val="accent3"/>
          </a:solidFill>
          <a:ln w="12700">
            <a:solidFill>
              <a:schemeClr val="accent3"/>
            </a:solidFill>
            <a:prstDash val="solid"/>
          </a:ln>
        </p:spPr>
      </p:sp>
      <p:sp>
        <p:nvSpPr>
          <p:cNvPr id="7" name="Text 5"/>
          <p:cNvSpPr txBox="1"/>
          <p:nvPr/>
        </p:nvSpPr>
        <p:spPr>
          <a:xfrm>
            <a:off x="2636215" y="1207008"/>
            <a:ext cx="1783080" cy="365760"/>
          </a:xfrm>
          <a:prstGeom prst="rect">
            <a:avLst/>
          </a:prstGeom>
          <a:noFill/>
          <a:ln/>
        </p:spPr>
        <p:txBody>
          <a:bodyPr wrap="square" lIns="0" tIns="0" rIns="0" bIns="0" rtlCol="0" anchor="ctr"/>
          <a:lstStyle/>
          <a:p>
            <a:pPr indent="0" marL="0">
              <a:buNone/>
            </a:pPr>
            <a:r>
              <a:rPr lang="en-US" sz="1600" b="1" dirty="0">
                <a:solidFill>
                  <a:schemeClr val="bg1"/>
                </a:solidFill>
              </a:rPr>
              <a:t>Verifica cupo</a:t>
            </a:r>
            <a:endParaRPr lang="en-US" sz="1600" dirty="0"/>
          </a:p>
        </p:txBody>
      </p:sp>
      <p:sp>
        <p:nvSpPr>
          <p:cNvPr id="8" name="Text 6"/>
          <p:cNvSpPr txBox="1"/>
          <p:nvPr/>
        </p:nvSpPr>
        <p:spPr>
          <a:xfrm>
            <a:off x="2636215" y="1627632"/>
            <a:ext cx="1783080" cy="777240"/>
          </a:xfrm>
          <a:prstGeom prst="rect">
            <a:avLst/>
          </a:prstGeom>
          <a:noFill/>
          <a:ln/>
        </p:spPr>
        <p:txBody>
          <a:bodyPr wrap="square" lIns="0" tIns="0" rIns="0" bIns="0" rtlCol="0" anchor="t"/>
          <a:lstStyle/>
          <a:p>
            <a:pPr indent="0" marL="0">
              <a:buNone/>
            </a:pPr>
            <a:r>
              <a:rPr lang="en-US" sz="1200" dirty="0">
                <a:solidFill>
                  <a:schemeClr val="bg1"/>
                </a:solidFill>
              </a:rPr>
              <a:t>verificar_disponibilidad</a:t>
            </a:r>
            <a:endParaRPr lang="en-US" sz="1200" dirty="0"/>
          </a:p>
        </p:txBody>
      </p:sp>
      <p:sp>
        <p:nvSpPr>
          <p:cNvPr id="9" name="Paso 3"/>
          <p:cNvSpPr/>
          <p:nvPr/>
        </p:nvSpPr>
        <p:spPr>
          <a:xfrm>
            <a:off x="4632350" y="1097280"/>
            <a:ext cx="1965960" cy="1417320"/>
          </a:xfrm>
          <a:prstGeom prst="roundRect">
            <a:avLst>
              <a:gd name="adj" fmla="val 5161"/>
            </a:avLst>
          </a:prstGeom>
          <a:solidFill>
            <a:schemeClr val="accent1"/>
          </a:solidFill>
          <a:ln w="12700">
            <a:solidFill>
              <a:schemeClr val="accent1"/>
            </a:solidFill>
            <a:prstDash val="solid"/>
          </a:ln>
        </p:spPr>
      </p:sp>
      <p:sp>
        <p:nvSpPr>
          <p:cNvPr id="10" name="Text 8"/>
          <p:cNvSpPr txBox="1"/>
          <p:nvPr/>
        </p:nvSpPr>
        <p:spPr>
          <a:xfrm>
            <a:off x="4723790" y="1207008"/>
            <a:ext cx="1783080" cy="365760"/>
          </a:xfrm>
          <a:prstGeom prst="rect">
            <a:avLst/>
          </a:prstGeom>
          <a:noFill/>
          <a:ln/>
        </p:spPr>
        <p:txBody>
          <a:bodyPr wrap="square" lIns="0" tIns="0" rIns="0" bIns="0" rtlCol="0" anchor="ctr"/>
          <a:lstStyle/>
          <a:p>
            <a:pPr indent="0" marL="0">
              <a:buNone/>
            </a:pPr>
            <a:r>
              <a:rPr lang="en-US" sz="1600" b="1" dirty="0">
                <a:solidFill>
                  <a:schemeClr val="bg1"/>
                </a:solidFill>
              </a:rPr>
              <a:t>Re-planifica</a:t>
            </a:r>
            <a:endParaRPr lang="en-US" sz="1600" dirty="0"/>
          </a:p>
        </p:txBody>
      </p:sp>
      <p:sp>
        <p:nvSpPr>
          <p:cNvPr id="11" name="Text 9"/>
          <p:cNvSpPr txBox="1"/>
          <p:nvPr/>
        </p:nvSpPr>
        <p:spPr>
          <a:xfrm>
            <a:off x="4723790" y="1627632"/>
            <a:ext cx="1783080" cy="777240"/>
          </a:xfrm>
          <a:prstGeom prst="rect">
            <a:avLst/>
          </a:prstGeom>
          <a:noFill/>
          <a:ln/>
        </p:spPr>
        <p:txBody>
          <a:bodyPr wrap="square" lIns="0" tIns="0" rIns="0" bIns="0" rtlCol="0" anchor="t"/>
          <a:lstStyle/>
          <a:p>
            <a:pPr indent="0" marL="0">
              <a:buNone/>
            </a:pPr>
            <a:r>
              <a:rPr lang="en-US" sz="1200" dirty="0">
                <a:solidFill>
                  <a:schemeClr val="bg1"/>
                </a:solidFill>
              </a:rPr>
              <a:t>Ofrece miércoles o viernes</a:t>
            </a:r>
            <a:endParaRPr lang="en-US" sz="1200" dirty="0"/>
          </a:p>
        </p:txBody>
      </p:sp>
      <p:sp>
        <p:nvSpPr>
          <p:cNvPr id="12" name="Paso 4"/>
          <p:cNvSpPr/>
          <p:nvPr/>
        </p:nvSpPr>
        <p:spPr>
          <a:xfrm>
            <a:off x="6719926" y="1097280"/>
            <a:ext cx="1965960" cy="1417320"/>
          </a:xfrm>
          <a:prstGeom prst="roundRect">
            <a:avLst>
              <a:gd name="adj" fmla="val 5161"/>
            </a:avLst>
          </a:prstGeom>
          <a:solidFill>
            <a:schemeClr val="accent4"/>
          </a:solidFill>
          <a:ln w="12700">
            <a:solidFill>
              <a:schemeClr val="accent4"/>
            </a:solidFill>
            <a:prstDash val="solid"/>
          </a:ln>
        </p:spPr>
      </p:sp>
      <p:sp>
        <p:nvSpPr>
          <p:cNvPr id="13" name="Text 11"/>
          <p:cNvSpPr txBox="1"/>
          <p:nvPr/>
        </p:nvSpPr>
        <p:spPr>
          <a:xfrm>
            <a:off x="6811366" y="1207008"/>
            <a:ext cx="1783080" cy="365760"/>
          </a:xfrm>
          <a:prstGeom prst="rect">
            <a:avLst/>
          </a:prstGeom>
          <a:noFill/>
          <a:ln/>
        </p:spPr>
        <p:txBody>
          <a:bodyPr wrap="square" lIns="0" tIns="0" rIns="0" bIns="0" rtlCol="0" anchor="ctr"/>
          <a:lstStyle/>
          <a:p>
            <a:pPr indent="0" marL="0">
              <a:buNone/>
            </a:pPr>
            <a:r>
              <a:rPr lang="en-US" sz="1600" b="1" dirty="0">
                <a:solidFill>
                  <a:schemeClr val="bg1"/>
                </a:solidFill>
              </a:rPr>
              <a:t>Registra o escala</a:t>
            </a:r>
            <a:endParaRPr lang="en-US" sz="1600" dirty="0"/>
          </a:p>
        </p:txBody>
      </p:sp>
      <p:sp>
        <p:nvSpPr>
          <p:cNvPr id="14" name="Text 12"/>
          <p:cNvSpPr txBox="1"/>
          <p:nvPr/>
        </p:nvSpPr>
        <p:spPr>
          <a:xfrm>
            <a:off x="6811366" y="1627632"/>
            <a:ext cx="1783080" cy="777240"/>
          </a:xfrm>
          <a:prstGeom prst="rect">
            <a:avLst/>
          </a:prstGeom>
          <a:noFill/>
          <a:ln/>
        </p:spPr>
        <p:txBody>
          <a:bodyPr wrap="square" lIns="0" tIns="0" rIns="0" bIns="0" rtlCol="0" anchor="t"/>
          <a:lstStyle/>
          <a:p>
            <a:pPr indent="0" marL="0">
              <a:buNone/>
            </a:pPr>
            <a:r>
              <a:rPr lang="en-US" sz="1200" dirty="0">
                <a:solidFill>
                  <a:schemeClr val="bg1"/>
                </a:solidFill>
              </a:rPr>
              <a:t>Registra la hora o escribe a recepción</a:t>
            </a:r>
            <a:endParaRPr lang="en-US" sz="1200" dirty="0"/>
          </a:p>
        </p:txBody>
      </p:sp>
      <p:sp>
        <p:nvSpPr>
          <p:cNvPr id="15" name="Text 13"/>
          <p:cNvSpPr txBox="1"/>
          <p:nvPr/>
        </p:nvSpPr>
        <p:spPr>
          <a:xfrm>
            <a:off x="457200" y="2743200"/>
            <a:ext cx="8229600" cy="365760"/>
          </a:xfrm>
          <a:prstGeom prst="rect">
            <a:avLst/>
          </a:prstGeom>
          <a:noFill/>
          <a:ln/>
        </p:spPr>
        <p:txBody>
          <a:bodyPr wrap="square" lIns="0" tIns="0" rIns="0" bIns="0" rtlCol="0" anchor="ctr"/>
          <a:lstStyle/>
          <a:p>
            <a:pPr indent="0" marL="0">
              <a:buNone/>
            </a:pPr>
            <a:r>
              <a:rPr lang="en-US" sz="1800" b="1" dirty="0">
                <a:solidFill>
                  <a:schemeClr val="tx2"/>
                </a:solidFill>
              </a:rPr>
              <a:t>Prioridades del agente</a:t>
            </a:r>
            <a:endParaRPr lang="en-US" sz="1800" dirty="0"/>
          </a:p>
        </p:txBody>
      </p:sp>
      <p:sp>
        <p:nvSpPr>
          <p:cNvPr id="16" name="Prioridad 1"/>
          <p:cNvSpPr/>
          <p:nvPr/>
        </p:nvSpPr>
        <p:spPr>
          <a:xfrm>
            <a:off x="457200" y="3200400"/>
            <a:ext cx="1965960" cy="868680"/>
          </a:xfrm>
          <a:prstGeom prst="roundRect">
            <a:avLst>
              <a:gd name="adj" fmla="val 8421"/>
            </a:avLst>
          </a:prstGeom>
          <a:solidFill>
            <a:schemeClr val="accent6"/>
          </a:solidFill>
          <a:ln w="12700">
            <a:solidFill>
              <a:schemeClr val="accent6"/>
            </a:solidFill>
            <a:prstDash val="solid"/>
          </a:ln>
        </p:spPr>
      </p:sp>
      <p:sp>
        <p:nvSpPr>
          <p:cNvPr id="17" name="Número 1"/>
          <p:cNvSpPr/>
          <p:nvPr/>
        </p:nvSpPr>
        <p:spPr>
          <a:xfrm>
            <a:off x="566928" y="3438144"/>
            <a:ext cx="384048" cy="384048"/>
          </a:xfrm>
          <a:prstGeom prst="ellipse">
            <a:avLst/>
          </a:prstGeom>
          <a:solidFill>
            <a:schemeClr val="tx2"/>
          </a:solidFill>
          <a:ln w="12700">
            <a:solidFill>
              <a:schemeClr val="tx2"/>
            </a:solidFill>
            <a:prstDash val="solid"/>
          </a:ln>
        </p:spPr>
      </p:sp>
      <p:sp>
        <p:nvSpPr>
          <p:cNvPr id="18" name="Text 16"/>
          <p:cNvSpPr txBox="1"/>
          <p:nvPr/>
        </p:nvSpPr>
        <p:spPr>
          <a:xfrm>
            <a:off x="566928" y="343814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9" name="Text 17"/>
          <p:cNvSpPr txBox="1"/>
          <p:nvPr/>
        </p:nvSpPr>
        <p:spPr>
          <a:xfrm>
            <a:off x="1051560" y="3200400"/>
            <a:ext cx="1298448" cy="868680"/>
          </a:xfrm>
          <a:prstGeom prst="rect">
            <a:avLst/>
          </a:prstGeom>
          <a:noFill/>
          <a:ln/>
        </p:spPr>
        <p:txBody>
          <a:bodyPr wrap="square" lIns="0" tIns="0" rIns="0" bIns="0" rtlCol="0" anchor="ctr"/>
          <a:lstStyle/>
          <a:p>
            <a:pPr indent="0" marL="0">
              <a:buNone/>
            </a:pPr>
            <a:r>
              <a:rPr lang="en-US" sz="1400" b="1" dirty="0">
                <a:solidFill>
                  <a:schemeClr val="bg1"/>
                </a:solidFill>
              </a:rPr>
              <a:t>Seguridad clínica</a:t>
            </a:r>
            <a:endParaRPr lang="en-US" sz="1400" dirty="0"/>
          </a:p>
        </p:txBody>
      </p:sp>
      <p:sp>
        <p:nvSpPr>
          <p:cNvPr id="20" name="Prioridad 2"/>
          <p:cNvSpPr/>
          <p:nvPr/>
        </p:nvSpPr>
        <p:spPr>
          <a:xfrm>
            <a:off x="2544775" y="3200400"/>
            <a:ext cx="1965960" cy="868680"/>
          </a:xfrm>
          <a:prstGeom prst="roundRect">
            <a:avLst>
              <a:gd name="adj" fmla="val 8421"/>
            </a:avLst>
          </a:prstGeom>
          <a:solidFill>
            <a:schemeClr val="accent6"/>
          </a:solidFill>
          <a:ln w="12700">
            <a:solidFill>
              <a:schemeClr val="accent6"/>
            </a:solidFill>
            <a:prstDash val="solid"/>
          </a:ln>
        </p:spPr>
      </p:sp>
      <p:sp>
        <p:nvSpPr>
          <p:cNvPr id="21" name="Número 2"/>
          <p:cNvSpPr/>
          <p:nvPr/>
        </p:nvSpPr>
        <p:spPr>
          <a:xfrm>
            <a:off x="2654503" y="3438144"/>
            <a:ext cx="384048" cy="384048"/>
          </a:xfrm>
          <a:prstGeom prst="ellipse">
            <a:avLst/>
          </a:prstGeom>
          <a:solidFill>
            <a:schemeClr val="tx2"/>
          </a:solidFill>
          <a:ln w="12700">
            <a:solidFill>
              <a:schemeClr val="tx2"/>
            </a:solidFill>
            <a:prstDash val="solid"/>
          </a:ln>
        </p:spPr>
      </p:sp>
      <p:sp>
        <p:nvSpPr>
          <p:cNvPr id="22" name="Text 20"/>
          <p:cNvSpPr txBox="1"/>
          <p:nvPr/>
        </p:nvSpPr>
        <p:spPr>
          <a:xfrm>
            <a:off x="2654503" y="343814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3" name="Text 21"/>
          <p:cNvSpPr txBox="1"/>
          <p:nvPr/>
        </p:nvSpPr>
        <p:spPr>
          <a:xfrm>
            <a:off x="3139135" y="3200400"/>
            <a:ext cx="1298448" cy="868680"/>
          </a:xfrm>
          <a:prstGeom prst="rect">
            <a:avLst/>
          </a:prstGeom>
          <a:noFill/>
          <a:ln/>
        </p:spPr>
        <p:txBody>
          <a:bodyPr wrap="square" lIns="0" tIns="0" rIns="0" bIns="0" rtlCol="0" anchor="ctr"/>
          <a:lstStyle/>
          <a:p>
            <a:pPr indent="0" marL="0">
              <a:buNone/>
            </a:pPr>
            <a:r>
              <a:rPr lang="en-US" sz="1400" b="1" dirty="0">
                <a:solidFill>
                  <a:schemeClr val="bg1"/>
                </a:solidFill>
              </a:rPr>
              <a:t>Alcance del centro</a:t>
            </a:r>
            <a:endParaRPr lang="en-US" sz="1400" dirty="0"/>
          </a:p>
        </p:txBody>
      </p:sp>
      <p:sp>
        <p:nvSpPr>
          <p:cNvPr id="24" name="Prioridad 3"/>
          <p:cNvSpPr/>
          <p:nvPr/>
        </p:nvSpPr>
        <p:spPr>
          <a:xfrm>
            <a:off x="4632350" y="3200400"/>
            <a:ext cx="1965960" cy="868680"/>
          </a:xfrm>
          <a:prstGeom prst="roundRect">
            <a:avLst>
              <a:gd name="adj" fmla="val 8421"/>
            </a:avLst>
          </a:prstGeom>
          <a:solidFill>
            <a:schemeClr val="accent6"/>
          </a:solidFill>
          <a:ln w="12700">
            <a:solidFill>
              <a:schemeClr val="accent6"/>
            </a:solidFill>
            <a:prstDash val="solid"/>
          </a:ln>
        </p:spPr>
      </p:sp>
      <p:sp>
        <p:nvSpPr>
          <p:cNvPr id="25" name="Número 3"/>
          <p:cNvSpPr/>
          <p:nvPr/>
        </p:nvSpPr>
        <p:spPr>
          <a:xfrm>
            <a:off x="4742078" y="3438144"/>
            <a:ext cx="384048" cy="384048"/>
          </a:xfrm>
          <a:prstGeom prst="ellipse">
            <a:avLst/>
          </a:prstGeom>
          <a:solidFill>
            <a:schemeClr val="tx2"/>
          </a:solidFill>
          <a:ln w="12700">
            <a:solidFill>
              <a:schemeClr val="tx2"/>
            </a:solidFill>
            <a:prstDash val="solid"/>
          </a:ln>
        </p:spPr>
      </p:sp>
      <p:sp>
        <p:nvSpPr>
          <p:cNvPr id="26" name="Text 24"/>
          <p:cNvSpPr txBox="1"/>
          <p:nvPr/>
        </p:nvSpPr>
        <p:spPr>
          <a:xfrm>
            <a:off x="4742078" y="343814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7" name="Text 25"/>
          <p:cNvSpPr txBox="1"/>
          <p:nvPr/>
        </p:nvSpPr>
        <p:spPr>
          <a:xfrm>
            <a:off x="5226710" y="3200400"/>
            <a:ext cx="1298448" cy="868680"/>
          </a:xfrm>
          <a:prstGeom prst="rect">
            <a:avLst/>
          </a:prstGeom>
          <a:noFill/>
          <a:ln/>
        </p:spPr>
        <p:txBody>
          <a:bodyPr wrap="square" lIns="0" tIns="0" rIns="0" bIns="0" rtlCol="0" anchor="ctr"/>
          <a:lstStyle/>
          <a:p>
            <a:pPr indent="0" marL="0">
              <a:buNone/>
            </a:pPr>
            <a:r>
              <a:rPr lang="en-US" sz="1400" b="1" dirty="0">
                <a:solidFill>
                  <a:schemeClr val="bg1"/>
                </a:solidFill>
              </a:rPr>
              <a:t>Información con fuente</a:t>
            </a:r>
            <a:endParaRPr lang="en-US" sz="1400" dirty="0"/>
          </a:p>
        </p:txBody>
      </p:sp>
      <p:sp>
        <p:nvSpPr>
          <p:cNvPr id="28" name="Prioridad 4"/>
          <p:cNvSpPr/>
          <p:nvPr/>
        </p:nvSpPr>
        <p:spPr>
          <a:xfrm>
            <a:off x="6719926" y="3200400"/>
            <a:ext cx="1965960" cy="868680"/>
          </a:xfrm>
          <a:prstGeom prst="roundRect">
            <a:avLst>
              <a:gd name="adj" fmla="val 8421"/>
            </a:avLst>
          </a:prstGeom>
          <a:solidFill>
            <a:schemeClr val="accent6"/>
          </a:solidFill>
          <a:ln w="12700">
            <a:solidFill>
              <a:schemeClr val="accent6"/>
            </a:solidFill>
            <a:prstDash val="solid"/>
          </a:ln>
        </p:spPr>
      </p:sp>
      <p:sp>
        <p:nvSpPr>
          <p:cNvPr id="29" name="Número 4"/>
          <p:cNvSpPr/>
          <p:nvPr/>
        </p:nvSpPr>
        <p:spPr>
          <a:xfrm>
            <a:off x="6829654" y="3438144"/>
            <a:ext cx="384048" cy="384048"/>
          </a:xfrm>
          <a:prstGeom prst="ellipse">
            <a:avLst/>
          </a:prstGeom>
          <a:solidFill>
            <a:schemeClr val="tx2"/>
          </a:solidFill>
          <a:ln w="12700">
            <a:solidFill>
              <a:schemeClr val="tx2"/>
            </a:solidFill>
            <a:prstDash val="solid"/>
          </a:ln>
        </p:spPr>
      </p:sp>
      <p:sp>
        <p:nvSpPr>
          <p:cNvPr id="30" name="Text 28"/>
          <p:cNvSpPr txBox="1"/>
          <p:nvPr/>
        </p:nvSpPr>
        <p:spPr>
          <a:xfrm>
            <a:off x="6829654" y="343814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1" name="Text 29"/>
          <p:cNvSpPr txBox="1"/>
          <p:nvPr/>
        </p:nvSpPr>
        <p:spPr>
          <a:xfrm>
            <a:off x="7314286" y="3200400"/>
            <a:ext cx="1298448" cy="868680"/>
          </a:xfrm>
          <a:prstGeom prst="rect">
            <a:avLst/>
          </a:prstGeom>
          <a:noFill/>
          <a:ln/>
        </p:spPr>
        <p:txBody>
          <a:bodyPr wrap="square" lIns="0" tIns="0" rIns="0" bIns="0" rtlCol="0" anchor="ctr"/>
          <a:lstStyle/>
          <a:p>
            <a:pPr indent="0" marL="0">
              <a:buNone/>
            </a:pPr>
            <a:r>
              <a:rPr lang="en-US" sz="1400" b="1" dirty="0">
                <a:solidFill>
                  <a:schemeClr val="bg1"/>
                </a:solidFill>
              </a:rPr>
              <a:t>Verificar antes de registrar</a:t>
            </a:r>
            <a:endParaRPr lang="en-US" sz="1400" dirty="0"/>
          </a:p>
        </p:txBody>
      </p:sp>
      <p:sp>
        <p:nvSpPr>
          <p:cNvPr id="32" name="Text 30"/>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Cada turno queda en la trazabilidad: herramientas usadas y número de pasos.</a:t>
            </a:r>
            <a:endParaRPr lang="en-US" sz="12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Demo en vivo</a:t>
            </a:r>
            <a:endParaRPr lang="en-US" sz="3400" dirty="0"/>
          </a:p>
        </p:txBody>
      </p:sp>
      <p:sp>
        <p:nvSpPr>
          <p:cNvPr id="3" name="Caso 1"/>
          <p:cNvSpPr/>
          <p:nvPr/>
        </p:nvSpPr>
        <p:spPr>
          <a:xfrm>
            <a:off x="457200" y="1097280"/>
            <a:ext cx="2651760" cy="2926080"/>
          </a:xfrm>
          <a:prstGeom prst="roundRect">
            <a:avLst>
              <a:gd name="adj" fmla="val 2759"/>
            </a:avLst>
          </a:prstGeom>
          <a:solidFill>
            <a:schemeClr val="bg2"/>
          </a:solidFill>
          <a:ln w="12700">
            <a:solidFill>
              <a:schemeClr val="bg2"/>
            </a:solidFill>
            <a:prstDash val="solid"/>
          </a:ln>
        </p:spPr>
      </p:sp>
      <p:sp>
        <p:nvSpPr>
          <p:cNvPr id="4" name="Número 1"/>
          <p:cNvSpPr/>
          <p:nvPr/>
        </p:nvSpPr>
        <p:spPr>
          <a:xfrm>
            <a:off x="640080" y="1261872"/>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640080" y="126187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143000" y="1216152"/>
            <a:ext cx="1874520" cy="475488"/>
          </a:xfrm>
          <a:prstGeom prst="rect">
            <a:avLst/>
          </a:prstGeom>
          <a:noFill/>
          <a:ln/>
        </p:spPr>
        <p:txBody>
          <a:bodyPr wrap="square" lIns="0" tIns="0" rIns="0" bIns="0" rtlCol="0" anchor="ctr"/>
          <a:lstStyle/>
          <a:p>
            <a:pPr indent="0" marL="0">
              <a:buNone/>
            </a:pPr>
            <a:r>
              <a:rPr lang="en-US" sz="1600" b="1" dirty="0">
                <a:solidFill>
                  <a:schemeClr val="tx2"/>
                </a:solidFill>
              </a:rPr>
              <a:t>Consulta administrativa</a:t>
            </a:r>
            <a:endParaRPr lang="en-US" sz="1600" dirty="0"/>
          </a:p>
        </p:txBody>
      </p:sp>
      <p:sp>
        <p:nvSpPr>
          <p:cNvPr id="7" name="Text 5"/>
          <p:cNvSpPr txBox="1"/>
          <p:nvPr/>
        </p:nvSpPr>
        <p:spPr>
          <a:xfrm>
            <a:off x="640080" y="1874520"/>
            <a:ext cx="2286000" cy="256032"/>
          </a:xfrm>
          <a:prstGeom prst="rect">
            <a:avLst/>
          </a:prstGeom>
          <a:noFill/>
          <a:ln/>
        </p:spPr>
        <p:txBody>
          <a:bodyPr wrap="square" lIns="0" tIns="0" rIns="0" bIns="0" rtlCol="0" anchor="ctr"/>
          <a:lstStyle/>
          <a:p>
            <a:pPr indent="0" marL="0">
              <a:buNone/>
            </a:pPr>
            <a:r>
              <a:rPr lang="en-US" sz="1200" b="1" dirty="0">
                <a:solidFill>
                  <a:schemeClr val="accent6"/>
                </a:solidFill>
              </a:rPr>
              <a:t>Pedir</a:t>
            </a:r>
            <a:endParaRPr lang="en-US" sz="1200" dirty="0"/>
          </a:p>
        </p:txBody>
      </p:sp>
      <p:sp>
        <p:nvSpPr>
          <p:cNvPr id="8" name="Text 6"/>
          <p:cNvSpPr txBox="1"/>
          <p:nvPr/>
        </p:nvSpPr>
        <p:spPr>
          <a:xfrm>
            <a:off x="640080" y="2130552"/>
            <a:ext cx="2286000" cy="777240"/>
          </a:xfrm>
          <a:prstGeom prst="rect">
            <a:avLst/>
          </a:prstGeom>
          <a:noFill/>
          <a:ln/>
        </p:spPr>
        <p:txBody>
          <a:bodyPr wrap="square" lIns="0" tIns="0" rIns="0" bIns="0" rtlCol="0" anchor="t"/>
          <a:lstStyle/>
          <a:p>
            <a:pPr indent="0" marL="0">
              <a:buNone/>
            </a:pPr>
            <a:r>
              <a:rPr lang="en-US" sz="1400" i="1" dirty="0">
                <a:solidFill>
                  <a:schemeClr val="tx1"/>
                </a:solidFill>
              </a:rPr>
              <a:t>“¿Qué horario tiene la nutricionista?”</a:t>
            </a:r>
            <a:endParaRPr lang="en-US" sz="1400" dirty="0"/>
          </a:p>
        </p:txBody>
      </p:sp>
      <p:sp>
        <p:nvSpPr>
          <p:cNvPr id="9" name="Text 7"/>
          <p:cNvSpPr txBox="1"/>
          <p:nvPr/>
        </p:nvSpPr>
        <p:spPr>
          <a:xfrm>
            <a:off x="640080" y="2926080"/>
            <a:ext cx="2286000" cy="256032"/>
          </a:xfrm>
          <a:prstGeom prst="rect">
            <a:avLst/>
          </a:prstGeom>
          <a:noFill/>
          <a:ln/>
        </p:spPr>
        <p:txBody>
          <a:bodyPr wrap="square" lIns="0" tIns="0" rIns="0" bIns="0" rtlCol="0" anchor="ctr"/>
          <a:lstStyle/>
          <a:p>
            <a:pPr indent="0" marL="0">
              <a:buNone/>
            </a:pPr>
            <a:r>
              <a:rPr lang="en-US" sz="1200" b="1" dirty="0">
                <a:solidFill>
                  <a:schemeClr val="accent6"/>
                </a:solidFill>
              </a:rPr>
              <a:t>Se espera</a:t>
            </a:r>
            <a:endParaRPr lang="en-US" sz="1200" dirty="0"/>
          </a:p>
        </p:txBody>
      </p:sp>
      <p:sp>
        <p:nvSpPr>
          <p:cNvPr id="10" name="Text 8"/>
          <p:cNvSpPr txBox="1"/>
          <p:nvPr/>
        </p:nvSpPr>
        <p:spPr>
          <a:xfrm>
            <a:off x="640080" y="3182112"/>
            <a:ext cx="2286000" cy="777240"/>
          </a:xfrm>
          <a:prstGeom prst="rect">
            <a:avLst/>
          </a:prstGeom>
          <a:noFill/>
          <a:ln/>
        </p:spPr>
        <p:txBody>
          <a:bodyPr wrap="square" lIns="0" tIns="0" rIns="0" bIns="0" rtlCol="0" anchor="t"/>
          <a:lstStyle/>
          <a:p>
            <a:pPr indent="0" marL="0">
              <a:buNone/>
            </a:pPr>
            <a:r>
              <a:rPr lang="en-US" sz="1400" dirty="0">
                <a:solidFill>
                  <a:schemeClr val="tx1"/>
                </a:solidFill>
              </a:rPr>
              <a:t>Usa RAG y responde citando la fuente</a:t>
            </a:r>
            <a:endParaRPr lang="en-US" sz="1400" dirty="0"/>
          </a:p>
        </p:txBody>
      </p:sp>
      <p:sp>
        <p:nvSpPr>
          <p:cNvPr id="11" name="Caso 2"/>
          <p:cNvSpPr/>
          <p:nvPr/>
        </p:nvSpPr>
        <p:spPr>
          <a:xfrm>
            <a:off x="3246120" y="1097280"/>
            <a:ext cx="2651760" cy="2926080"/>
          </a:xfrm>
          <a:prstGeom prst="roundRect">
            <a:avLst>
              <a:gd name="adj" fmla="val 2759"/>
            </a:avLst>
          </a:prstGeom>
          <a:solidFill>
            <a:schemeClr val="bg2"/>
          </a:solidFill>
          <a:ln w="12700">
            <a:solidFill>
              <a:schemeClr val="bg2"/>
            </a:solidFill>
            <a:prstDash val="solid"/>
          </a:ln>
        </p:spPr>
      </p:sp>
      <p:sp>
        <p:nvSpPr>
          <p:cNvPr id="12" name="Número 2"/>
          <p:cNvSpPr/>
          <p:nvPr/>
        </p:nvSpPr>
        <p:spPr>
          <a:xfrm>
            <a:off x="3429000" y="1261872"/>
            <a:ext cx="384048" cy="384048"/>
          </a:xfrm>
          <a:prstGeom prst="ellipse">
            <a:avLst/>
          </a:prstGeom>
          <a:solidFill>
            <a:schemeClr val="accent1"/>
          </a:solidFill>
          <a:ln w="12700">
            <a:solidFill>
              <a:schemeClr val="accent1"/>
            </a:solidFill>
            <a:prstDash val="solid"/>
          </a:ln>
        </p:spPr>
      </p:sp>
      <p:sp>
        <p:nvSpPr>
          <p:cNvPr id="13" name="Text 11"/>
          <p:cNvSpPr txBox="1"/>
          <p:nvPr/>
        </p:nvSpPr>
        <p:spPr>
          <a:xfrm>
            <a:off x="3429000" y="126187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2"/>
          <p:cNvSpPr txBox="1"/>
          <p:nvPr/>
        </p:nvSpPr>
        <p:spPr>
          <a:xfrm>
            <a:off x="3931920" y="1216152"/>
            <a:ext cx="1874520" cy="475488"/>
          </a:xfrm>
          <a:prstGeom prst="rect">
            <a:avLst/>
          </a:prstGeom>
          <a:noFill/>
          <a:ln/>
        </p:spPr>
        <p:txBody>
          <a:bodyPr wrap="square" lIns="0" tIns="0" rIns="0" bIns="0" rtlCol="0" anchor="ctr"/>
          <a:lstStyle/>
          <a:p>
            <a:pPr indent="0" marL="0">
              <a:buNone/>
            </a:pPr>
            <a:r>
              <a:rPr lang="en-US" sz="1600" b="1" dirty="0">
                <a:solidFill>
                  <a:schemeClr val="tx2"/>
                </a:solidFill>
              </a:rPr>
              <a:t>Agendar sin cupo</a:t>
            </a:r>
            <a:endParaRPr lang="en-US" sz="1600" dirty="0"/>
          </a:p>
        </p:txBody>
      </p:sp>
      <p:sp>
        <p:nvSpPr>
          <p:cNvPr id="15" name="Text 13"/>
          <p:cNvSpPr txBox="1"/>
          <p:nvPr/>
        </p:nvSpPr>
        <p:spPr>
          <a:xfrm>
            <a:off x="3429000" y="1874520"/>
            <a:ext cx="2286000" cy="256032"/>
          </a:xfrm>
          <a:prstGeom prst="rect">
            <a:avLst/>
          </a:prstGeom>
          <a:noFill/>
          <a:ln/>
        </p:spPr>
        <p:txBody>
          <a:bodyPr wrap="square" lIns="0" tIns="0" rIns="0" bIns="0" rtlCol="0" anchor="ctr"/>
          <a:lstStyle/>
          <a:p>
            <a:pPr indent="0" marL="0">
              <a:buNone/>
            </a:pPr>
            <a:r>
              <a:rPr lang="en-US" sz="1200" b="1" dirty="0">
                <a:solidFill>
                  <a:schemeClr val="accent6"/>
                </a:solidFill>
              </a:rPr>
              <a:t>Pedir</a:t>
            </a:r>
            <a:endParaRPr lang="en-US" sz="1200" dirty="0"/>
          </a:p>
        </p:txBody>
      </p:sp>
      <p:sp>
        <p:nvSpPr>
          <p:cNvPr id="16" name="Text 14"/>
          <p:cNvSpPr txBox="1"/>
          <p:nvPr/>
        </p:nvSpPr>
        <p:spPr>
          <a:xfrm>
            <a:off x="3429000" y="2130552"/>
            <a:ext cx="2286000" cy="777240"/>
          </a:xfrm>
          <a:prstGeom prst="rect">
            <a:avLst/>
          </a:prstGeom>
          <a:noFill/>
          <a:ln/>
        </p:spPr>
        <p:txBody>
          <a:bodyPr wrap="square" lIns="0" tIns="0" rIns="0" bIns="0" rtlCol="0" anchor="t"/>
          <a:lstStyle/>
          <a:p>
            <a:pPr indent="0" marL="0">
              <a:buNone/>
            </a:pPr>
            <a:r>
              <a:rPr lang="en-US" sz="1400" i="1" dirty="0">
                <a:solidFill>
                  <a:schemeClr val="tx1"/>
                </a:solidFill>
              </a:rPr>
              <a:t>“Quiero hora con el Dr. Soto el lunes”</a:t>
            </a:r>
            <a:endParaRPr lang="en-US" sz="1400" dirty="0"/>
          </a:p>
        </p:txBody>
      </p:sp>
      <p:sp>
        <p:nvSpPr>
          <p:cNvPr id="17" name="Text 15"/>
          <p:cNvSpPr txBox="1"/>
          <p:nvPr/>
        </p:nvSpPr>
        <p:spPr>
          <a:xfrm>
            <a:off x="3429000" y="2926080"/>
            <a:ext cx="2286000" cy="256032"/>
          </a:xfrm>
          <a:prstGeom prst="rect">
            <a:avLst/>
          </a:prstGeom>
          <a:noFill/>
          <a:ln/>
        </p:spPr>
        <p:txBody>
          <a:bodyPr wrap="square" lIns="0" tIns="0" rIns="0" bIns="0" rtlCol="0" anchor="ctr"/>
          <a:lstStyle/>
          <a:p>
            <a:pPr indent="0" marL="0">
              <a:buNone/>
            </a:pPr>
            <a:r>
              <a:rPr lang="en-US" sz="1200" b="1" dirty="0">
                <a:solidFill>
                  <a:schemeClr val="accent6"/>
                </a:solidFill>
              </a:rPr>
              <a:t>Se espera</a:t>
            </a:r>
            <a:endParaRPr lang="en-US" sz="1200" dirty="0"/>
          </a:p>
        </p:txBody>
      </p:sp>
      <p:sp>
        <p:nvSpPr>
          <p:cNvPr id="18" name="Text 16"/>
          <p:cNvSpPr txBox="1"/>
          <p:nvPr/>
        </p:nvSpPr>
        <p:spPr>
          <a:xfrm>
            <a:off x="3429000" y="3182112"/>
            <a:ext cx="2286000" cy="777240"/>
          </a:xfrm>
          <a:prstGeom prst="rect">
            <a:avLst/>
          </a:prstGeom>
          <a:noFill/>
          <a:ln/>
        </p:spPr>
        <p:txBody>
          <a:bodyPr wrap="square" lIns="0" tIns="0" rIns="0" bIns="0" rtlCol="0" anchor="t"/>
          <a:lstStyle/>
          <a:p>
            <a:pPr indent="0" marL="0">
              <a:buNone/>
            </a:pPr>
            <a:r>
              <a:rPr lang="en-US" sz="1400" dirty="0">
                <a:solidFill>
                  <a:schemeClr val="tx1"/>
                </a:solidFill>
              </a:rPr>
              <a:t>Verifica, no registra y ofrece alternativa</a:t>
            </a:r>
            <a:endParaRPr lang="en-US" sz="1400" dirty="0"/>
          </a:p>
        </p:txBody>
      </p:sp>
      <p:sp>
        <p:nvSpPr>
          <p:cNvPr id="19" name="Caso 3"/>
          <p:cNvSpPr/>
          <p:nvPr/>
        </p:nvSpPr>
        <p:spPr>
          <a:xfrm>
            <a:off x="6035040" y="1097280"/>
            <a:ext cx="2651760" cy="2926080"/>
          </a:xfrm>
          <a:prstGeom prst="roundRect">
            <a:avLst>
              <a:gd name="adj" fmla="val 2759"/>
            </a:avLst>
          </a:prstGeom>
          <a:solidFill>
            <a:schemeClr val="bg2"/>
          </a:solidFill>
          <a:ln w="12700">
            <a:solidFill>
              <a:schemeClr val="bg2"/>
            </a:solidFill>
            <a:prstDash val="solid"/>
          </a:ln>
        </p:spPr>
      </p:sp>
      <p:sp>
        <p:nvSpPr>
          <p:cNvPr id="20" name="Número 3"/>
          <p:cNvSpPr/>
          <p:nvPr/>
        </p:nvSpPr>
        <p:spPr>
          <a:xfrm>
            <a:off x="6217920" y="1261872"/>
            <a:ext cx="384048" cy="384048"/>
          </a:xfrm>
          <a:prstGeom prst="ellipse">
            <a:avLst/>
          </a:prstGeom>
          <a:solidFill>
            <a:schemeClr val="accent1"/>
          </a:solidFill>
          <a:ln w="12700">
            <a:solidFill>
              <a:schemeClr val="accent1"/>
            </a:solidFill>
            <a:prstDash val="solid"/>
          </a:ln>
        </p:spPr>
      </p:sp>
      <p:sp>
        <p:nvSpPr>
          <p:cNvPr id="21" name="Text 19"/>
          <p:cNvSpPr txBox="1"/>
          <p:nvPr/>
        </p:nvSpPr>
        <p:spPr>
          <a:xfrm>
            <a:off x="6217920" y="126187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2" name="Text 20"/>
          <p:cNvSpPr txBox="1"/>
          <p:nvPr/>
        </p:nvSpPr>
        <p:spPr>
          <a:xfrm>
            <a:off x="6720840" y="1216152"/>
            <a:ext cx="1874520" cy="475488"/>
          </a:xfrm>
          <a:prstGeom prst="rect">
            <a:avLst/>
          </a:prstGeom>
          <a:noFill/>
          <a:ln/>
        </p:spPr>
        <p:txBody>
          <a:bodyPr wrap="square" lIns="0" tIns="0" rIns="0" bIns="0" rtlCol="0" anchor="ctr"/>
          <a:lstStyle/>
          <a:p>
            <a:pPr indent="0" marL="0">
              <a:buNone/>
            </a:pPr>
            <a:r>
              <a:rPr lang="en-US" sz="1600" b="1" dirty="0">
                <a:solidFill>
                  <a:schemeClr val="tx2"/>
                </a:solidFill>
              </a:rPr>
              <a:t>Consulta de salud</a:t>
            </a:r>
            <a:endParaRPr lang="en-US" sz="1600" dirty="0"/>
          </a:p>
        </p:txBody>
      </p:sp>
      <p:sp>
        <p:nvSpPr>
          <p:cNvPr id="23" name="Text 21"/>
          <p:cNvSpPr txBox="1"/>
          <p:nvPr/>
        </p:nvSpPr>
        <p:spPr>
          <a:xfrm>
            <a:off x="6217920" y="1874520"/>
            <a:ext cx="2286000" cy="256032"/>
          </a:xfrm>
          <a:prstGeom prst="rect">
            <a:avLst/>
          </a:prstGeom>
          <a:noFill/>
          <a:ln/>
        </p:spPr>
        <p:txBody>
          <a:bodyPr wrap="square" lIns="0" tIns="0" rIns="0" bIns="0" rtlCol="0" anchor="ctr"/>
          <a:lstStyle/>
          <a:p>
            <a:pPr indent="0" marL="0">
              <a:buNone/>
            </a:pPr>
            <a:r>
              <a:rPr lang="en-US" sz="1200" b="1" dirty="0">
                <a:solidFill>
                  <a:schemeClr val="accent6"/>
                </a:solidFill>
              </a:rPr>
              <a:t>Pedir</a:t>
            </a:r>
            <a:endParaRPr lang="en-US" sz="1200" dirty="0"/>
          </a:p>
        </p:txBody>
      </p:sp>
      <p:sp>
        <p:nvSpPr>
          <p:cNvPr id="24" name="Text 22"/>
          <p:cNvSpPr txBox="1"/>
          <p:nvPr/>
        </p:nvSpPr>
        <p:spPr>
          <a:xfrm>
            <a:off x="6217920" y="2130552"/>
            <a:ext cx="2286000" cy="777240"/>
          </a:xfrm>
          <a:prstGeom prst="rect">
            <a:avLst/>
          </a:prstGeom>
          <a:noFill/>
          <a:ln/>
        </p:spPr>
        <p:txBody>
          <a:bodyPr wrap="square" lIns="0" tIns="0" rIns="0" bIns="0" rtlCol="0" anchor="t"/>
          <a:lstStyle/>
          <a:p>
            <a:pPr indent="0" marL="0">
              <a:buNone/>
            </a:pPr>
            <a:r>
              <a:rPr lang="en-US" sz="1400" i="1" dirty="0">
                <a:solidFill>
                  <a:schemeClr val="tx1"/>
                </a:solidFill>
              </a:rPr>
              <a:t>“Tengo fiebre hace 3 días, ¿qué es?”</a:t>
            </a:r>
            <a:endParaRPr lang="en-US" sz="1400" dirty="0"/>
          </a:p>
        </p:txBody>
      </p:sp>
      <p:sp>
        <p:nvSpPr>
          <p:cNvPr id="25" name="Text 23"/>
          <p:cNvSpPr txBox="1"/>
          <p:nvPr/>
        </p:nvSpPr>
        <p:spPr>
          <a:xfrm>
            <a:off x="6217920" y="2926080"/>
            <a:ext cx="2286000" cy="256032"/>
          </a:xfrm>
          <a:prstGeom prst="rect">
            <a:avLst/>
          </a:prstGeom>
          <a:noFill/>
          <a:ln/>
        </p:spPr>
        <p:txBody>
          <a:bodyPr wrap="square" lIns="0" tIns="0" rIns="0" bIns="0" rtlCol="0" anchor="ctr"/>
          <a:lstStyle/>
          <a:p>
            <a:pPr indent="0" marL="0">
              <a:buNone/>
            </a:pPr>
            <a:r>
              <a:rPr lang="en-US" sz="1200" b="1" dirty="0">
                <a:solidFill>
                  <a:schemeClr val="accent6"/>
                </a:solidFill>
              </a:rPr>
              <a:t>Se espera</a:t>
            </a:r>
            <a:endParaRPr lang="en-US" sz="1200" dirty="0"/>
          </a:p>
        </p:txBody>
      </p:sp>
      <p:sp>
        <p:nvSpPr>
          <p:cNvPr id="26" name="Text 24"/>
          <p:cNvSpPr txBox="1"/>
          <p:nvPr/>
        </p:nvSpPr>
        <p:spPr>
          <a:xfrm>
            <a:off x="6217920" y="3182112"/>
            <a:ext cx="2286000" cy="777240"/>
          </a:xfrm>
          <a:prstGeom prst="rect">
            <a:avLst/>
          </a:prstGeom>
          <a:noFill/>
          <a:ln/>
        </p:spPr>
        <p:txBody>
          <a:bodyPr wrap="square" lIns="0" tIns="0" rIns="0" bIns="0" rtlCol="0" anchor="t"/>
          <a:lstStyle/>
          <a:p>
            <a:pPr indent="0" marL="0">
              <a:buNone/>
            </a:pPr>
            <a:r>
              <a:rPr lang="en-US" sz="1400" dirty="0">
                <a:solidFill>
                  <a:schemeClr val="tx1"/>
                </a:solidFill>
              </a:rPr>
              <a:t>No responde: deriva con mensaje a recepción</a:t>
            </a:r>
            <a:endParaRPr lang="en-US" sz="1400" dirty="0"/>
          </a:p>
        </p:txBody>
      </p:sp>
      <p:sp>
        <p:nvSpPr>
          <p:cNvPr id="27" name="Franja demo"/>
          <p:cNvSpPr/>
          <p:nvPr/>
        </p:nvSpPr>
        <p:spPr>
          <a:xfrm>
            <a:off x="457200" y="4206240"/>
            <a:ext cx="8229600" cy="502920"/>
          </a:xfrm>
          <a:prstGeom prst="roundRect">
            <a:avLst>
              <a:gd name="adj" fmla="val 14545"/>
            </a:avLst>
          </a:prstGeom>
          <a:solidFill>
            <a:schemeClr val="tx2"/>
          </a:solidFill>
          <a:ln w="12700">
            <a:solidFill>
              <a:schemeClr val="tx2"/>
            </a:solidFill>
            <a:prstDash val="solid"/>
          </a:ln>
        </p:spPr>
      </p:sp>
      <p:sp>
        <p:nvSpPr>
          <p:cNvPr id="28" name="Text 26"/>
          <p:cNvSpPr txBox="1"/>
          <p:nvPr/>
        </p:nvSpPr>
        <p:spPr>
          <a:xfrm>
            <a:off x="640080" y="4206240"/>
            <a:ext cx="7863840" cy="502920"/>
          </a:xfrm>
          <a:prstGeom prst="rect">
            <a:avLst/>
          </a:prstGeom>
          <a:noFill/>
          <a:ln/>
        </p:spPr>
        <p:txBody>
          <a:bodyPr wrap="square" lIns="0" tIns="0" rIns="0" bIns="0" rtlCol="0" anchor="ctr"/>
          <a:lstStyle/>
          <a:p>
            <a:pPr indent="0" marL="0">
              <a:buNone/>
            </a:pPr>
            <a:r>
              <a:rPr lang="en-US" sz="1400" dirty="0">
                <a:solidFill>
                  <a:schemeClr val="bg1"/>
                </a:solidFill>
              </a:rPr>
              <a:t>Mostrar en pantalla: herramientas usadas y memoria asociada al RUT</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Aprendizajes y próximos pasos</a:t>
            </a:r>
            <a:endParaRPr lang="en-US" sz="3400" dirty="0"/>
          </a:p>
        </p:txBody>
      </p:sp>
      <p:sp>
        <p:nvSpPr>
          <p:cNvPr id="3" name="Problema 1"/>
          <p:cNvSpPr/>
          <p:nvPr/>
        </p:nvSpPr>
        <p:spPr>
          <a:xfrm>
            <a:off x="457200" y="1097280"/>
            <a:ext cx="5029200" cy="960120"/>
          </a:xfrm>
          <a:prstGeom prst="roundRect">
            <a:avLst>
              <a:gd name="adj" fmla="val 7619"/>
            </a:avLst>
          </a:prstGeom>
          <a:solidFill>
            <a:schemeClr val="bg2"/>
          </a:solidFill>
          <a:ln w="12700">
            <a:solidFill>
              <a:schemeClr val="bg2"/>
            </a:solidFill>
            <a:prstDash val="solid"/>
          </a:ln>
        </p:spPr>
      </p:sp>
      <p:sp>
        <p:nvSpPr>
          <p:cNvPr id="4" name="Text 2"/>
          <p:cNvSpPr txBox="1"/>
          <p:nvPr/>
        </p:nvSpPr>
        <p:spPr>
          <a:xfrm>
            <a:off x="640080" y="1097280"/>
            <a:ext cx="4663440" cy="960120"/>
          </a:xfrm>
          <a:prstGeom prst="rect">
            <a:avLst/>
          </a:prstGeom>
          <a:noFill/>
          <a:ln/>
        </p:spPr>
        <p:txBody>
          <a:bodyPr wrap="square" lIns="0" tIns="0" rIns="0" bIns="0" rtlCol="0" anchor="ctr"/>
          <a:lstStyle/>
          <a:p>
            <a:pPr indent="0" marL="0">
              <a:buNone/>
            </a:pPr>
            <a:r>
              <a:rPr lang="en-US" sz="1400" b="1" dirty="0">
                <a:solidFill>
                  <a:schemeClr val="tx2"/>
                </a:solidFill>
              </a:rPr>
              <a:t>Memoria dividida entre anónimo y RUT</a:t>
            </a:r>
            <a:endParaRPr lang="en-US" sz="1400" dirty="0"/>
          </a:p>
          <a:p>
            <a:pPr indent="0" marL="0">
              <a:buNone/>
            </a:pPr>
            <a:r>
              <a:rPr lang="en-US" sz="1400" dirty="0">
                <a:solidFill>
                  <a:schemeClr val="tx1"/>
                </a:solidFill>
              </a:rPr>
              <a:t>Se detecta el RUT en el texto y se migra la memoria</a:t>
            </a:r>
            <a:endParaRPr lang="en-US" sz="1400" dirty="0"/>
          </a:p>
        </p:txBody>
      </p:sp>
      <p:sp>
        <p:nvSpPr>
          <p:cNvPr id="5" name="Problema 2"/>
          <p:cNvSpPr/>
          <p:nvPr/>
        </p:nvSpPr>
        <p:spPr>
          <a:xfrm>
            <a:off x="457200" y="2194560"/>
            <a:ext cx="5029200" cy="960120"/>
          </a:xfrm>
          <a:prstGeom prst="roundRect">
            <a:avLst>
              <a:gd name="adj" fmla="val 7619"/>
            </a:avLst>
          </a:prstGeom>
          <a:solidFill>
            <a:schemeClr val="bg2"/>
          </a:solidFill>
          <a:ln w="12700">
            <a:solidFill>
              <a:schemeClr val="bg2"/>
            </a:solidFill>
            <a:prstDash val="solid"/>
          </a:ln>
        </p:spPr>
      </p:sp>
      <p:sp>
        <p:nvSpPr>
          <p:cNvPr id="6" name="Text 4"/>
          <p:cNvSpPr txBox="1"/>
          <p:nvPr/>
        </p:nvSpPr>
        <p:spPr>
          <a:xfrm>
            <a:off x="640080" y="2194560"/>
            <a:ext cx="4663440" cy="960120"/>
          </a:xfrm>
          <a:prstGeom prst="rect">
            <a:avLst/>
          </a:prstGeom>
          <a:noFill/>
          <a:ln/>
        </p:spPr>
        <p:txBody>
          <a:bodyPr wrap="square" lIns="0" tIns="0" rIns="0" bIns="0" rtlCol="0" anchor="ctr"/>
          <a:lstStyle/>
          <a:p>
            <a:pPr indent="0" marL="0">
              <a:buNone/>
            </a:pPr>
            <a:r>
              <a:rPr lang="en-US" sz="1400" b="1" dirty="0">
                <a:solidFill>
                  <a:schemeClr val="tx2"/>
                </a:solidFill>
              </a:rPr>
              <a:t>Todo se derivaba a recepción</a:t>
            </a:r>
            <a:endParaRPr lang="en-US" sz="1400" dirty="0"/>
          </a:p>
          <a:p>
            <a:pPr indent="0" marL="0">
              <a:buNone/>
            </a:pPr>
            <a:r>
              <a:rPr lang="en-US" sz="1400" dirty="0">
                <a:solidFill>
                  <a:schemeClr val="tx1"/>
                </a:solidFill>
              </a:rPr>
              <a:t>Regla de alcance en el system prompt</a:t>
            </a:r>
            <a:endParaRPr lang="en-US" sz="1400" dirty="0"/>
          </a:p>
        </p:txBody>
      </p:sp>
      <p:sp>
        <p:nvSpPr>
          <p:cNvPr id="7" name="Problema 3"/>
          <p:cNvSpPr/>
          <p:nvPr/>
        </p:nvSpPr>
        <p:spPr>
          <a:xfrm>
            <a:off x="457200" y="3291840"/>
            <a:ext cx="5029200" cy="960120"/>
          </a:xfrm>
          <a:prstGeom prst="roundRect">
            <a:avLst>
              <a:gd name="adj" fmla="val 7619"/>
            </a:avLst>
          </a:prstGeom>
          <a:solidFill>
            <a:schemeClr val="bg2"/>
          </a:solidFill>
          <a:ln w="12700">
            <a:solidFill>
              <a:schemeClr val="bg2"/>
            </a:solidFill>
            <a:prstDash val="solid"/>
          </a:ln>
        </p:spPr>
      </p:sp>
      <p:sp>
        <p:nvSpPr>
          <p:cNvPr id="8" name="Text 6"/>
          <p:cNvSpPr txBox="1"/>
          <p:nvPr/>
        </p:nvSpPr>
        <p:spPr>
          <a:xfrm>
            <a:off x="640080" y="3291840"/>
            <a:ext cx="4663440" cy="960120"/>
          </a:xfrm>
          <a:prstGeom prst="rect">
            <a:avLst/>
          </a:prstGeom>
          <a:noFill/>
          <a:ln/>
        </p:spPr>
        <p:txBody>
          <a:bodyPr wrap="square" lIns="0" tIns="0" rIns="0" bIns="0" rtlCol="0" anchor="ctr"/>
          <a:lstStyle/>
          <a:p>
            <a:pPr indent="0" marL="0">
              <a:buNone/>
            </a:pPr>
            <a:r>
              <a:rPr lang="en-US" sz="1400" b="1" dirty="0">
                <a:solidFill>
                  <a:schemeClr val="tx2"/>
                </a:solidFill>
              </a:rPr>
              <a:t>Conteo de tokens con modelo de OpenRouter</a:t>
            </a:r>
            <a:endParaRPr lang="en-US" sz="1400" dirty="0"/>
          </a:p>
          <a:p>
            <a:pPr indent="0" marL="0">
              <a:buNone/>
            </a:pPr>
            <a:r>
              <a:rPr lang="en-US" sz="1400" dirty="0">
                <a:solidFill>
                  <a:schemeClr val="tx1"/>
                </a:solidFill>
              </a:rPr>
              <a:t>Contador aproximado para la memoria</a:t>
            </a:r>
            <a:endParaRPr lang="en-US" sz="1400" dirty="0"/>
          </a:p>
        </p:txBody>
      </p:sp>
      <p:sp>
        <p:nvSpPr>
          <p:cNvPr id="9" name="Tarjeta próximos pasos"/>
          <p:cNvSpPr/>
          <p:nvPr/>
        </p:nvSpPr>
        <p:spPr>
          <a:xfrm>
            <a:off x="5715000" y="1097280"/>
            <a:ext cx="2971800" cy="3154680"/>
          </a:xfrm>
          <a:prstGeom prst="roundRect">
            <a:avLst>
              <a:gd name="adj" fmla="val 2462"/>
            </a:avLst>
          </a:prstGeom>
          <a:solidFill>
            <a:schemeClr val="tx2"/>
          </a:solidFill>
          <a:ln w="12700">
            <a:solidFill>
              <a:schemeClr val="tx2"/>
            </a:solidFill>
            <a:prstDash val="solid"/>
          </a:ln>
        </p:spPr>
      </p:sp>
      <p:sp>
        <p:nvSpPr>
          <p:cNvPr id="10" name="Text 8"/>
          <p:cNvSpPr txBox="1"/>
          <p:nvPr/>
        </p:nvSpPr>
        <p:spPr>
          <a:xfrm>
            <a:off x="5897880" y="1234440"/>
            <a:ext cx="2651760" cy="365760"/>
          </a:xfrm>
          <a:prstGeom prst="rect">
            <a:avLst/>
          </a:prstGeom>
          <a:noFill/>
          <a:ln/>
        </p:spPr>
        <p:txBody>
          <a:bodyPr wrap="square" lIns="0" tIns="0" rIns="0" bIns="0" rtlCol="0" anchor="ctr"/>
          <a:lstStyle/>
          <a:p>
            <a:pPr indent="0" marL="0">
              <a:buNone/>
            </a:pPr>
            <a:r>
              <a:rPr lang="en-US" sz="1800" b="1" dirty="0">
                <a:solidFill>
                  <a:schemeClr val="bg1"/>
                </a:solidFill>
              </a:rPr>
              <a:t>Próximos pasos</a:t>
            </a:r>
            <a:endParaRPr lang="en-US" sz="1800" dirty="0"/>
          </a:p>
        </p:txBody>
      </p:sp>
      <p:sp>
        <p:nvSpPr>
          <p:cNvPr id="11" name="Text 9"/>
          <p:cNvSpPr txBox="1"/>
          <p:nvPr/>
        </p:nvSpPr>
        <p:spPr>
          <a:xfrm>
            <a:off x="5897880" y="1691640"/>
            <a:ext cx="26517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Disponibilidad real de agenda</a:t>
            </a:r>
            <a:endParaRPr lang="en-US" sz="1400" dirty="0"/>
          </a:p>
          <a:p>
            <a:pPr marL="342900" indent="-342900">
              <a:spcAft>
                <a:spcPts val="800"/>
              </a:spcAft>
              <a:buSzPct val="100000"/>
              <a:buChar char="•"/>
            </a:pPr>
            <a:r>
              <a:rPr lang="en-US" sz="1400" dirty="0">
                <a:solidFill>
                  <a:schemeClr val="bg1"/>
                </a:solidFill>
              </a:rPr>
              <a:t>Herramientas en un servidor aparte (MCP o API)</a:t>
            </a:r>
            <a:endParaRPr lang="en-US" sz="1400" dirty="0"/>
          </a:p>
          <a:p>
            <a:pPr marL="342900" indent="-342900">
              <a:spcAft>
                <a:spcPts val="800"/>
              </a:spcAft>
              <a:buSzPct val="100000"/>
              <a:buChar char="•"/>
            </a:pPr>
            <a:r>
              <a:rPr lang="en-US" sz="1400" dirty="0">
                <a:solidFill>
                  <a:schemeClr val="bg1"/>
                </a:solidFill>
              </a:rPr>
              <a:t>Base de datos cifrada y con acceso controlado</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Vitalis EP2">
  <a:themeElements>
    <a:clrScheme name="Vitalis EP2">
      <a:dk1>
        <a:srgbClr val="1A2233"/>
      </a:dk1>
      <a:lt1>
        <a:srgbClr val="FFFFFF"/>
      </a:lt1>
      <a:dk2>
        <a:srgbClr val="21295C"/>
      </a:dk2>
      <a:lt2>
        <a:srgbClr val="EAF2F7"/>
      </a:lt2>
      <a:accent1>
        <a:srgbClr val="065A82"/>
      </a:accent1>
      <a:accent2>
        <a:srgbClr val="1C7293"/>
      </a:accent2>
      <a:accent3>
        <a:srgbClr val="B7791F"/>
      </a:accent3>
      <a:accent4>
        <a:srgbClr val="2F7D4F"/>
      </a:accent4>
      <a:accent5>
        <a:srgbClr val="6B4FA3"/>
      </a:accent5>
      <a:accent6>
        <a:srgbClr val="44546A"/>
      </a:accent6>
      <a:hlink>
        <a:srgbClr val="065A82"/>
      </a:hlink>
      <a:folHlink>
        <a:srgbClr val="6B4FA3"/>
      </a:folHlink>
    </a:clrScheme>
    <a:fontScheme name="Vitalis EP2">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EP2 - Agente funcional Vitalis</dc:title>
  <dc:subject>PptxGenJS Presentation</dc:subject>
  <dc:creator>PptxGenJS</dc:creator>
  <cp:lastModifiedBy>PptxGenJS</cp:lastModifiedBy>
  <cp:revision>1</cp:revision>
  <dcterms:created xsi:type="dcterms:W3CDTF">2026-10-21T18:55:22Z</dcterms:created>
  <dcterms:modified xsi:type="dcterms:W3CDTF">2026-10-21T18:55:22Z</dcterms:modified>
</cp:coreProperties>
</file>
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3" roundtripDataSignature="AMtx7mh3FQ/64qP10+JB5t0KNWj3e2DIA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customschemas.google.com/relationships/presentationmetadata" Target="metadata"/><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Saludo y presentación del equipo. Una frase: pasamos de un flujo fijo (EP1) a un agente que decide solo qué herramienta usar.</a:t>
            </a:r>
            <a:endParaRP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 name="Google Shape;3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Contexto: recepción pierde tiempo en consultas repetitivas. EP1 clasificaba y respondía; EP2 actúa: consulta, razona y escribe. Restricción de seguridad: nunca consejo clínico.</a:t>
            </a:r>
            <a:endParaRPr/>
          </a:p>
        </p:txBody>
      </p:sp>
      <p:sp>
        <p:nvSpPr>
          <p:cNvPr id="38" name="Google Shape;3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 name="Google Shape;5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Recorrer el diagrama de izquierda a derecha: paciente → orquestador (detecta RUT, guarda cada turno) → agente AgentExecutor → 5 herramientas → respuesta y trazabilidad. Destacar el ciclo razona → llama herramienta → observa → re-planifica.</a:t>
            </a:r>
            <a:endParaRPr/>
          </a:p>
        </p:txBody>
      </p:sp>
      <p:sp>
        <p:nvSpPr>
          <p:cNvPr id="53" name="Google Shape;5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 name="Google Shape;6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2. Tres tipos de herramienta: consulta, razonamiento y escritura. El modelo elige según el docstring y las reglas del prompt. Para agregar una nueva: función con @tool, docstring claro, sumarla a la lista y reconstruir el agente.</a:t>
            </a:r>
            <a:endParaRPr/>
          </a:p>
        </p:txBody>
      </p:sp>
      <p:sp>
        <p:nvSpPr>
          <p:cNvPr id="61" name="Google Shape;6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2. Corto plazo: resume en vez de descartar, así no se pierde continuidad. Largo plazo: JSON por RUT, simple porque el volumen es bajo y la búsqueda es por clave exacta. Recuperación semántica: el RAG trae solo 4 fragmentos, no todos los documentos.</a:t>
            </a:r>
            <a:endParaRPr/>
          </a:p>
        </p:txBody>
      </p:sp>
      <p:sp>
        <p:nvSpPr>
          <p:cNvPr id="91" name="Google Shape;9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1. Ejemplo central de adaptación: la herramienta informa que no hay cupo y el agente cambia el plan en vez de registrar la hora pedida. Las prioridades salen de las reglas del system prompt: primero seguridad clínica, luego alcance, luego información verificada, luego verificar antes de escribir.</a:t>
            </a:r>
            <a:endParaRPr/>
          </a:p>
        </p:txBody>
      </p:sp>
      <p:sp>
        <p:nvSpPr>
          <p:cNvPr id="115" name="Google Shape;11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Presentan: Integrante 1 y Integrante 2 (uno maneja el notebook, el otro narra). Orden: 1) consulta administrativa, 2) agendar con RUT en un día sin cupo, 3) consulta de salud. Después de cada caso mostrar la línea 'herramientas usadas'. Tener el notebook ya ejecutado hasta la celda 13 antes de empezar.</a:t>
            </a:r>
            <a:endParaRPr/>
          </a:p>
        </p:txBody>
      </p:sp>
      <p:sp>
        <p:nvSpPr>
          <p:cNvPr id="152" name="Google Shape;15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Presenta: Integrante 2. Cada problema lo encontramos probando el agente y quedó corregido en el código. Cierre: próximos pasos y apertura a preguntas.</a:t>
            </a:r>
            <a:endParaRPr/>
          </a:p>
        </p:txBody>
      </p:sp>
      <p:sp>
        <p:nvSpPr>
          <p:cNvPr id="184" name="Google Shape;184;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ULO">
  <p:cSld name="TITULO">
    <p:bg>
      <p:bgPr>
        <a:solidFill>
          <a:schemeClr val="dk2"/>
        </a:solidFill>
      </p:bgPr>
    </p:bg>
    <p:spTree>
      <p:nvGrpSpPr>
        <p:cNvPr id="11" name="Shape 11"/>
        <p:cNvGrpSpPr/>
        <p:nvPr/>
      </p:nvGrpSpPr>
      <p:grpSpPr>
        <a:xfrm>
          <a:off x="0" y="0"/>
          <a:ext cx="0" cy="0"/>
          <a:chOff x="0" y="0"/>
          <a:chExt cx="0" cy="0"/>
        </a:xfrm>
      </p:grpSpPr>
      <p:sp>
        <p:nvSpPr>
          <p:cNvPr id="12" name="Google Shape;12;p10"/>
          <p:cNvSpPr txBox="1"/>
          <p:nvPr>
            <p:ph type="title"/>
          </p:nvPr>
        </p:nvSpPr>
        <p:spPr>
          <a:xfrm>
            <a:off x="640080" y="914400"/>
            <a:ext cx="7863840" cy="1371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4000"/>
              <a:buFont typeface="Cambria"/>
              <a:buNone/>
              <a:defRPr b="1" i="0" sz="40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p:cSld name="CONTENIDO">
    <p:bg>
      <p:bgPr>
        <a:solidFill>
          <a:schemeClr val="lt1"/>
        </a:solidFill>
      </p:bgPr>
    </p:bg>
    <p:spTree>
      <p:nvGrpSpPr>
        <p:cNvPr id="13" name="Shape 13"/>
        <p:cNvGrpSpPr/>
        <p:nvPr/>
      </p:nvGrpSpPr>
      <p:grpSpPr>
        <a:xfrm>
          <a:off x="0" y="0"/>
          <a:ext cx="0" cy="0"/>
          <a:chOff x="0" y="0"/>
          <a:chExt cx="0" cy="0"/>
        </a:xfrm>
      </p:grpSpPr>
      <p:sp>
        <p:nvSpPr>
          <p:cNvPr id="14" name="Google Shape;14;p11"/>
          <p:cNvSpPr txBox="1"/>
          <p:nvPr>
            <p:ph type="title"/>
          </p:nvPr>
        </p:nvSpPr>
        <p:spPr>
          <a:xfrm>
            <a:off x="457200" y="274320"/>
            <a:ext cx="8229600" cy="64008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2"/>
              </a:buClr>
              <a:buSzPts val="3400"/>
              <a:buFont typeface="Cambria"/>
              <a:buNone/>
              <a:defRPr b="1" i="0" sz="3400" u="none" cap="none" strike="noStrike">
                <a:solidFill>
                  <a:schemeClr val="dk2"/>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5" name="Google Shape;15;p11"/>
          <p:cNvSpPr txBox="1"/>
          <p:nvPr>
            <p:ph idx="12"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chemeClr val="accent6"/>
                </a:solidFill>
                <a:latin typeface="Calibri"/>
                <a:ea typeface="Calibri"/>
                <a:cs typeface="Calibri"/>
                <a:sym typeface="Calibri"/>
              </a:defRPr>
            </a:lvl1pPr>
            <a:lvl2pPr indent="0" lvl="1" marL="0" marR="0" algn="r">
              <a:spcBef>
                <a:spcPts val="0"/>
              </a:spcBef>
              <a:buNone/>
              <a:defRPr b="0" i="0" sz="1000" u="none" cap="none" strike="noStrike">
                <a:solidFill>
                  <a:schemeClr val="accent6"/>
                </a:solidFill>
                <a:latin typeface="Calibri"/>
                <a:ea typeface="Calibri"/>
                <a:cs typeface="Calibri"/>
                <a:sym typeface="Calibri"/>
              </a:defRPr>
            </a:lvl2pPr>
            <a:lvl3pPr indent="0" lvl="2" marL="0" marR="0" algn="r">
              <a:spcBef>
                <a:spcPts val="0"/>
              </a:spcBef>
              <a:buNone/>
              <a:defRPr b="0" i="0" sz="1000" u="none" cap="none" strike="noStrike">
                <a:solidFill>
                  <a:schemeClr val="accent6"/>
                </a:solidFill>
                <a:latin typeface="Calibri"/>
                <a:ea typeface="Calibri"/>
                <a:cs typeface="Calibri"/>
                <a:sym typeface="Calibri"/>
              </a:defRPr>
            </a:lvl3pPr>
            <a:lvl4pPr indent="0" lvl="3" marL="0" marR="0" algn="r">
              <a:spcBef>
                <a:spcPts val="0"/>
              </a:spcBef>
              <a:buNone/>
              <a:defRPr b="0" i="0" sz="1000" u="none" cap="none" strike="noStrike">
                <a:solidFill>
                  <a:schemeClr val="accent6"/>
                </a:solidFill>
                <a:latin typeface="Calibri"/>
                <a:ea typeface="Calibri"/>
                <a:cs typeface="Calibri"/>
                <a:sym typeface="Calibri"/>
              </a:defRPr>
            </a:lvl4pPr>
            <a:lvl5pPr indent="0" lvl="4" marL="0" marR="0" algn="r">
              <a:spcBef>
                <a:spcPts val="0"/>
              </a:spcBef>
              <a:buNone/>
              <a:defRPr b="0" i="0" sz="1000" u="none" cap="none" strike="noStrike">
                <a:solidFill>
                  <a:schemeClr val="accent6"/>
                </a:solidFill>
                <a:latin typeface="Calibri"/>
                <a:ea typeface="Calibri"/>
                <a:cs typeface="Calibri"/>
                <a:sym typeface="Calibri"/>
              </a:defRPr>
            </a:lvl5pPr>
            <a:lvl6pPr indent="0" lvl="5" marL="0" marR="0" algn="r">
              <a:spcBef>
                <a:spcPts val="0"/>
              </a:spcBef>
              <a:buNone/>
              <a:defRPr b="0" i="0" sz="1000" u="none" cap="none" strike="noStrike">
                <a:solidFill>
                  <a:schemeClr val="accent6"/>
                </a:solidFill>
                <a:latin typeface="Calibri"/>
                <a:ea typeface="Calibri"/>
                <a:cs typeface="Calibri"/>
                <a:sym typeface="Calibri"/>
              </a:defRPr>
            </a:lvl6pPr>
            <a:lvl7pPr indent="0" lvl="6" marL="0" marR="0" algn="r">
              <a:spcBef>
                <a:spcPts val="0"/>
              </a:spcBef>
              <a:buNone/>
              <a:defRPr b="0" i="0" sz="1000" u="none" cap="none" strike="noStrike">
                <a:solidFill>
                  <a:schemeClr val="accent6"/>
                </a:solidFill>
                <a:latin typeface="Calibri"/>
                <a:ea typeface="Calibri"/>
                <a:cs typeface="Calibri"/>
                <a:sym typeface="Calibri"/>
              </a:defRPr>
            </a:lvl7pPr>
            <a:lvl8pPr indent="0" lvl="7" marL="0" marR="0" algn="r">
              <a:spcBef>
                <a:spcPts val="0"/>
              </a:spcBef>
              <a:buNone/>
              <a:defRPr b="0" i="0" sz="1000" u="none" cap="none" strike="noStrike">
                <a:solidFill>
                  <a:schemeClr val="accent6"/>
                </a:solidFill>
                <a:latin typeface="Calibri"/>
                <a:ea typeface="Calibri"/>
                <a:cs typeface="Calibri"/>
                <a:sym typeface="Calibri"/>
              </a:defRPr>
            </a:lvl8pPr>
            <a:lvl9pPr indent="0" lvl="8" marL="0" marR="0" algn="r">
              <a:spcBef>
                <a:spcPts val="0"/>
              </a:spcBef>
              <a:buNone/>
              <a:defRPr b="0" i="0" sz="1000" u="none" cap="none" strike="noStrike">
                <a:solidFill>
                  <a:schemeClr val="accent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6" name="Shape 1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9"/>
          <p:cNvSpPr txBox="1"/>
          <p:nvPr>
            <p:ph idx="12"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chemeClr val="accent6"/>
                </a:solidFill>
                <a:latin typeface="Calibri"/>
                <a:ea typeface="Calibri"/>
                <a:cs typeface="Calibri"/>
                <a:sym typeface="Calibri"/>
              </a:defRPr>
            </a:lvl1pPr>
            <a:lvl2pPr indent="0" lvl="1" marL="0" marR="0" rtl="0" algn="r">
              <a:spcBef>
                <a:spcPts val="0"/>
              </a:spcBef>
              <a:buNone/>
              <a:defRPr b="0" i="0" sz="1000" u="none" cap="none" strike="noStrike">
                <a:solidFill>
                  <a:schemeClr val="accent6"/>
                </a:solidFill>
                <a:latin typeface="Calibri"/>
                <a:ea typeface="Calibri"/>
                <a:cs typeface="Calibri"/>
                <a:sym typeface="Calibri"/>
              </a:defRPr>
            </a:lvl2pPr>
            <a:lvl3pPr indent="0" lvl="2" marL="0" marR="0" rtl="0" algn="r">
              <a:spcBef>
                <a:spcPts val="0"/>
              </a:spcBef>
              <a:buNone/>
              <a:defRPr b="0" i="0" sz="1000" u="none" cap="none" strike="noStrike">
                <a:solidFill>
                  <a:schemeClr val="accent6"/>
                </a:solidFill>
                <a:latin typeface="Calibri"/>
                <a:ea typeface="Calibri"/>
                <a:cs typeface="Calibri"/>
                <a:sym typeface="Calibri"/>
              </a:defRPr>
            </a:lvl3pPr>
            <a:lvl4pPr indent="0" lvl="3" marL="0" marR="0" rtl="0" algn="r">
              <a:spcBef>
                <a:spcPts val="0"/>
              </a:spcBef>
              <a:buNone/>
              <a:defRPr b="0" i="0" sz="1000" u="none" cap="none" strike="noStrike">
                <a:solidFill>
                  <a:schemeClr val="accent6"/>
                </a:solidFill>
                <a:latin typeface="Calibri"/>
                <a:ea typeface="Calibri"/>
                <a:cs typeface="Calibri"/>
                <a:sym typeface="Calibri"/>
              </a:defRPr>
            </a:lvl4pPr>
            <a:lvl5pPr indent="0" lvl="4" marL="0" marR="0" rtl="0" algn="r">
              <a:spcBef>
                <a:spcPts val="0"/>
              </a:spcBef>
              <a:buNone/>
              <a:defRPr b="0" i="0" sz="1000" u="none" cap="none" strike="noStrike">
                <a:solidFill>
                  <a:schemeClr val="accent6"/>
                </a:solidFill>
                <a:latin typeface="Calibri"/>
                <a:ea typeface="Calibri"/>
                <a:cs typeface="Calibri"/>
                <a:sym typeface="Calibri"/>
              </a:defRPr>
            </a:lvl5pPr>
            <a:lvl6pPr indent="0" lvl="5" marL="0" marR="0" rtl="0" algn="r">
              <a:spcBef>
                <a:spcPts val="0"/>
              </a:spcBef>
              <a:buNone/>
              <a:defRPr b="0" i="0" sz="1000" u="none" cap="none" strike="noStrike">
                <a:solidFill>
                  <a:schemeClr val="accent6"/>
                </a:solidFill>
                <a:latin typeface="Calibri"/>
                <a:ea typeface="Calibri"/>
                <a:cs typeface="Calibri"/>
                <a:sym typeface="Calibri"/>
              </a:defRPr>
            </a:lvl6pPr>
            <a:lvl7pPr indent="0" lvl="6" marL="0" marR="0" rtl="0" algn="r">
              <a:spcBef>
                <a:spcPts val="0"/>
              </a:spcBef>
              <a:buNone/>
              <a:defRPr b="0" i="0" sz="1000" u="none" cap="none" strike="noStrike">
                <a:solidFill>
                  <a:schemeClr val="accent6"/>
                </a:solidFill>
                <a:latin typeface="Calibri"/>
                <a:ea typeface="Calibri"/>
                <a:cs typeface="Calibri"/>
                <a:sym typeface="Calibri"/>
              </a:defRPr>
            </a:lvl7pPr>
            <a:lvl8pPr indent="0" lvl="7" marL="0" marR="0" rtl="0" algn="r">
              <a:spcBef>
                <a:spcPts val="0"/>
              </a:spcBef>
              <a:buNone/>
              <a:defRPr b="0" i="0" sz="1000" u="none" cap="none" strike="noStrike">
                <a:solidFill>
                  <a:schemeClr val="accent6"/>
                </a:solidFill>
                <a:latin typeface="Calibri"/>
                <a:ea typeface="Calibri"/>
                <a:cs typeface="Calibri"/>
                <a:sym typeface="Calibri"/>
              </a:defRPr>
            </a:lvl8pPr>
            <a:lvl9pPr indent="0" lvl="8" marL="0" marR="0" rtl="0" algn="r">
              <a:spcBef>
                <a:spcPts val="0"/>
              </a:spcBef>
              <a:buNone/>
              <a:defRPr b="0" i="0" sz="1000" u="none" cap="none" strike="noStrike">
                <a:solidFill>
                  <a:schemeClr val="accent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1"/>
          <p:cNvSpPr txBox="1"/>
          <p:nvPr>
            <p:ph type="title"/>
          </p:nvPr>
        </p:nvSpPr>
        <p:spPr>
          <a:xfrm>
            <a:off x="640080" y="914400"/>
            <a:ext cx="7863840" cy="1371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4000"/>
              <a:buFont typeface="Cambria"/>
              <a:buNone/>
            </a:pPr>
            <a:r>
              <a:rPr b="1" lang="en-US" sz="4000">
                <a:solidFill>
                  <a:schemeClr val="lt1"/>
                </a:solidFill>
              </a:rPr>
              <a:t>Agente funcional para el Centro Médico Vitalis</a:t>
            </a:r>
            <a:endParaRPr sz="4000"/>
          </a:p>
        </p:txBody>
      </p:sp>
      <p:sp>
        <p:nvSpPr>
          <p:cNvPr id="23" name="Google Shape;23;p1"/>
          <p:cNvSpPr txBox="1"/>
          <p:nvPr/>
        </p:nvSpPr>
        <p:spPr>
          <a:xfrm>
            <a:off x="640080" y="2377440"/>
            <a:ext cx="78638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2"/>
              </a:buClr>
              <a:buSzPts val="1800"/>
              <a:buFont typeface="Calibri"/>
              <a:buNone/>
            </a:pPr>
            <a:r>
              <a:rPr b="0" i="0" lang="en-US" sz="1800" u="none" cap="none" strike="noStrike">
                <a:solidFill>
                  <a:schemeClr val="lt2"/>
                </a:solidFill>
                <a:latin typeface="Calibri"/>
                <a:ea typeface="Calibri"/>
                <a:cs typeface="Calibri"/>
                <a:sym typeface="Calibri"/>
              </a:rPr>
              <a:t>Evaluación Parcial N°2 · ISY0101 Ingeniería de Soluciones con IA</a:t>
            </a:r>
            <a:endParaRPr b="0" i="0" sz="1800" u="none" cap="none" strike="noStrike">
              <a:solidFill>
                <a:schemeClr val="dk1"/>
              </a:solidFill>
              <a:latin typeface="Calibri"/>
              <a:ea typeface="Calibri"/>
              <a:cs typeface="Calibri"/>
              <a:sym typeface="Calibri"/>
            </a:endParaRPr>
          </a:p>
        </p:txBody>
      </p:sp>
      <p:sp>
        <p:nvSpPr>
          <p:cNvPr id="24" name="Google Shape;24;p1"/>
          <p:cNvSpPr txBox="1"/>
          <p:nvPr/>
        </p:nvSpPr>
        <p:spPr>
          <a:xfrm>
            <a:off x="640080" y="2788920"/>
            <a:ext cx="78638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lang="en-US" sz="1600">
                <a:solidFill>
                  <a:schemeClr val="lt1"/>
                </a:solidFill>
                <a:latin typeface="Calibri"/>
                <a:ea typeface="Calibri"/>
                <a:cs typeface="Calibri"/>
                <a:sym typeface="Calibri"/>
              </a:rPr>
              <a:t>Integrantes: Gonzalo Ulloa</a:t>
            </a:r>
            <a:br>
              <a:rPr lang="en-US" sz="1600">
                <a:solidFill>
                  <a:schemeClr val="lt1"/>
                </a:solidFill>
                <a:latin typeface="Calibri"/>
                <a:ea typeface="Calibri"/>
                <a:cs typeface="Calibri"/>
                <a:sym typeface="Calibri"/>
              </a:rPr>
            </a:br>
            <a:r>
              <a:rPr lang="en-US" sz="1600">
                <a:solidFill>
                  <a:schemeClr val="lt1"/>
                </a:solidFill>
                <a:latin typeface="Calibri"/>
                <a:ea typeface="Calibri"/>
                <a:cs typeface="Calibri"/>
                <a:sym typeface="Calibri"/>
              </a:rPr>
              <a:t>Fecha: 21/10/2026</a:t>
            </a:r>
            <a:endParaRPr b="0" i="0" sz="1600" u="none" cap="none" strike="noStrike">
              <a:solidFill>
                <a:schemeClr val="dk1"/>
              </a:solidFill>
              <a:latin typeface="Calibri"/>
              <a:ea typeface="Calibri"/>
              <a:cs typeface="Calibri"/>
              <a:sym typeface="Calibri"/>
            </a:endParaRPr>
          </a:p>
        </p:txBody>
      </p:sp>
      <p:sp>
        <p:nvSpPr>
          <p:cNvPr id="25" name="Google Shape;25;p1"/>
          <p:cNvSpPr/>
          <p:nvPr/>
        </p:nvSpPr>
        <p:spPr>
          <a:xfrm>
            <a:off x="640080" y="374904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search" id="26" name="Google Shape;26;p1"/>
          <p:cNvPicPr preferRelativeResize="0"/>
          <p:nvPr/>
        </p:nvPicPr>
        <p:blipFill rotWithShape="1">
          <a:blip r:embed="rId3">
            <a:alphaModFix/>
          </a:blip>
          <a:srcRect b="0" l="0" r="0" t="0"/>
          <a:stretch/>
        </p:blipFill>
        <p:spPr>
          <a:xfrm>
            <a:off x="788670" y="3897630"/>
            <a:ext cx="297180" cy="297180"/>
          </a:xfrm>
          <a:prstGeom prst="rect">
            <a:avLst/>
          </a:prstGeom>
          <a:noFill/>
          <a:ln>
            <a:noFill/>
          </a:ln>
        </p:spPr>
      </p:pic>
      <p:sp>
        <p:nvSpPr>
          <p:cNvPr id="27" name="Google Shape;27;p1"/>
          <p:cNvSpPr/>
          <p:nvPr/>
        </p:nvSpPr>
        <p:spPr>
          <a:xfrm>
            <a:off x="1417320" y="374904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memory" id="28" name="Google Shape;28;p1"/>
          <p:cNvPicPr preferRelativeResize="0"/>
          <p:nvPr/>
        </p:nvPicPr>
        <p:blipFill rotWithShape="1">
          <a:blip r:embed="rId4">
            <a:alphaModFix/>
          </a:blip>
          <a:srcRect b="0" l="0" r="0" t="0"/>
          <a:stretch/>
        </p:blipFill>
        <p:spPr>
          <a:xfrm>
            <a:off x="1565910" y="3897630"/>
            <a:ext cx="297180" cy="297180"/>
          </a:xfrm>
          <a:prstGeom prst="rect">
            <a:avLst/>
          </a:prstGeom>
          <a:noFill/>
          <a:ln>
            <a:noFill/>
          </a:ln>
        </p:spPr>
      </p:pic>
      <p:sp>
        <p:nvSpPr>
          <p:cNvPr id="29" name="Google Shape;29;p1"/>
          <p:cNvSpPr/>
          <p:nvPr/>
        </p:nvSpPr>
        <p:spPr>
          <a:xfrm>
            <a:off x="2194560" y="3749040"/>
            <a:ext cx="594360" cy="59436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alendar" id="30" name="Google Shape;30;p1"/>
          <p:cNvPicPr preferRelativeResize="0"/>
          <p:nvPr/>
        </p:nvPicPr>
        <p:blipFill rotWithShape="1">
          <a:blip r:embed="rId5">
            <a:alphaModFix/>
          </a:blip>
          <a:srcRect b="0" l="0" r="0" t="0"/>
          <a:stretch/>
        </p:blipFill>
        <p:spPr>
          <a:xfrm>
            <a:off x="2343150" y="3897630"/>
            <a:ext cx="297180" cy="297180"/>
          </a:xfrm>
          <a:prstGeom prst="rect">
            <a:avLst/>
          </a:prstGeom>
          <a:noFill/>
          <a:ln>
            <a:noFill/>
          </a:ln>
        </p:spPr>
      </p:pic>
      <p:sp>
        <p:nvSpPr>
          <p:cNvPr id="31" name="Google Shape;31;p1"/>
          <p:cNvSpPr/>
          <p:nvPr/>
        </p:nvSpPr>
        <p:spPr>
          <a:xfrm>
            <a:off x="2971800" y="3749040"/>
            <a:ext cx="594360" cy="59436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lip" id="32" name="Google Shape;32;p1"/>
          <p:cNvPicPr preferRelativeResize="0"/>
          <p:nvPr/>
        </p:nvPicPr>
        <p:blipFill rotWithShape="1">
          <a:blip r:embed="rId6">
            <a:alphaModFix/>
          </a:blip>
          <a:srcRect b="0" l="0" r="0" t="0"/>
          <a:stretch/>
        </p:blipFill>
        <p:spPr>
          <a:xfrm>
            <a:off x="3120390" y="3897630"/>
            <a:ext cx="297180" cy="297180"/>
          </a:xfrm>
          <a:prstGeom prst="rect">
            <a:avLst/>
          </a:prstGeom>
          <a:noFill/>
          <a:ln>
            <a:noFill/>
          </a:ln>
        </p:spPr>
      </p:pic>
      <p:sp>
        <p:nvSpPr>
          <p:cNvPr id="33" name="Google Shape;33;p1"/>
          <p:cNvSpPr/>
          <p:nvPr/>
        </p:nvSpPr>
        <p:spPr>
          <a:xfrm>
            <a:off x="3749040" y="3749040"/>
            <a:ext cx="594360" cy="59436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mail" id="34" name="Google Shape;34;p1"/>
          <p:cNvPicPr preferRelativeResize="0"/>
          <p:nvPr/>
        </p:nvPicPr>
        <p:blipFill rotWithShape="1">
          <a:blip r:embed="rId7">
            <a:alphaModFix/>
          </a:blip>
          <a:srcRect b="0" l="0" r="0" t="0"/>
          <a:stretch/>
        </p:blipFill>
        <p:spPr>
          <a:xfrm>
            <a:off x="3897630" y="3897630"/>
            <a:ext cx="297180" cy="29718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2"/>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Del flujo fijo al agente autónomo</a:t>
            </a:r>
            <a:endParaRPr sz="3400"/>
          </a:p>
        </p:txBody>
      </p:sp>
      <p:sp>
        <p:nvSpPr>
          <p:cNvPr id="41" name="Google Shape;41;p2"/>
          <p:cNvSpPr txBox="1"/>
          <p:nvPr/>
        </p:nvSpPr>
        <p:spPr>
          <a:xfrm>
            <a:off x="457200" y="96012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600"/>
              <a:buFont typeface="Calibri"/>
              <a:buNone/>
            </a:pPr>
            <a:r>
              <a:rPr b="0" i="0" lang="en-US" sz="1600" u="none" cap="none" strike="noStrike">
                <a:solidFill>
                  <a:schemeClr val="accent6"/>
                </a:solidFill>
                <a:latin typeface="Calibri"/>
                <a:ea typeface="Calibri"/>
                <a:cs typeface="Calibri"/>
                <a:sym typeface="Calibri"/>
              </a:rPr>
              <a:t>Caso: recepción del Centro Médico Vitalis, con tareas repetitivas y sin consejo clínico.</a:t>
            </a:r>
            <a:endParaRPr b="0" i="0" sz="1600" u="none" cap="none" strike="noStrike">
              <a:solidFill>
                <a:schemeClr val="dk1"/>
              </a:solidFill>
              <a:latin typeface="Calibri"/>
              <a:ea typeface="Calibri"/>
              <a:cs typeface="Calibri"/>
              <a:sym typeface="Calibri"/>
            </a:endParaRPr>
          </a:p>
        </p:txBody>
      </p:sp>
      <p:sp>
        <p:nvSpPr>
          <p:cNvPr id="42" name="Google Shape;42;p2"/>
          <p:cNvSpPr/>
          <p:nvPr/>
        </p:nvSpPr>
        <p:spPr>
          <a:xfrm>
            <a:off x="457200" y="1554480"/>
            <a:ext cx="3840480" cy="2926080"/>
          </a:xfrm>
          <a:prstGeom prst="roundRect">
            <a:avLst>
              <a:gd fmla="val 2500"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txBox="1"/>
          <p:nvPr/>
        </p:nvSpPr>
        <p:spPr>
          <a:xfrm>
            <a:off x="685800" y="1691640"/>
            <a:ext cx="33832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EP1 · Router + RAG</a:t>
            </a:r>
            <a:endParaRPr b="0" i="0" sz="2000" u="none" cap="none" strike="noStrike">
              <a:solidFill>
                <a:schemeClr val="dk1"/>
              </a:solidFill>
              <a:latin typeface="Calibri"/>
              <a:ea typeface="Calibri"/>
              <a:cs typeface="Calibri"/>
              <a:sym typeface="Calibri"/>
            </a:endParaRPr>
          </a:p>
        </p:txBody>
      </p:sp>
      <p:sp>
        <p:nvSpPr>
          <p:cNvPr id="44" name="Google Shape;44;p2"/>
          <p:cNvSpPr txBox="1"/>
          <p:nvPr/>
        </p:nvSpPr>
        <p:spPr>
          <a:xfrm>
            <a:off x="685800" y="2194560"/>
            <a:ext cx="3383280" cy="21031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Clasifica la consulta con if/else</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Solo lectura (RAG)</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Sin memoria entre turnos</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Flujo fijo</a:t>
            </a:r>
            <a:endParaRPr b="0" i="0" sz="1600" u="none" cap="none" strike="noStrike">
              <a:solidFill>
                <a:schemeClr val="dk1"/>
              </a:solidFill>
              <a:latin typeface="Calibri"/>
              <a:ea typeface="Calibri"/>
              <a:cs typeface="Calibri"/>
              <a:sym typeface="Calibri"/>
            </a:endParaRPr>
          </a:p>
        </p:txBody>
      </p:sp>
      <p:sp>
        <p:nvSpPr>
          <p:cNvPr id="45" name="Google Shape;45;p2"/>
          <p:cNvSpPr txBox="1"/>
          <p:nvPr/>
        </p:nvSpPr>
        <p:spPr>
          <a:xfrm>
            <a:off x="4297680" y="2651760"/>
            <a:ext cx="548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1"/>
              </a:buClr>
              <a:buSzPts val="3200"/>
              <a:buFont typeface="Calibri"/>
              <a:buNone/>
            </a:pPr>
            <a:r>
              <a:rPr b="1" i="0" lang="en-US" sz="3200" u="none" cap="none" strike="noStrike">
                <a:solidFill>
                  <a:schemeClr val="accent1"/>
                </a:solidFill>
                <a:latin typeface="Calibri"/>
                <a:ea typeface="Calibri"/>
                <a:cs typeface="Calibri"/>
                <a:sym typeface="Calibri"/>
              </a:rPr>
              <a:t>→</a:t>
            </a:r>
            <a:endParaRPr b="0" i="0" sz="3200" u="none" cap="none" strike="noStrike">
              <a:solidFill>
                <a:schemeClr val="dk1"/>
              </a:solidFill>
              <a:latin typeface="Calibri"/>
              <a:ea typeface="Calibri"/>
              <a:cs typeface="Calibri"/>
              <a:sym typeface="Calibri"/>
            </a:endParaRPr>
          </a:p>
        </p:txBody>
      </p:sp>
      <p:sp>
        <p:nvSpPr>
          <p:cNvPr id="46" name="Google Shape;46;p2"/>
          <p:cNvSpPr/>
          <p:nvPr/>
        </p:nvSpPr>
        <p:spPr>
          <a:xfrm>
            <a:off x="4846320" y="1554480"/>
            <a:ext cx="3840480" cy="2926080"/>
          </a:xfrm>
          <a:prstGeom prst="roundRect">
            <a:avLst>
              <a:gd fmla="val 2500" name="adj"/>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txBox="1"/>
          <p:nvPr/>
        </p:nvSpPr>
        <p:spPr>
          <a:xfrm>
            <a:off x="5074920" y="1691640"/>
            <a:ext cx="33832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EP2 · Agente con herramientas</a:t>
            </a:r>
            <a:endParaRPr b="0" i="0" sz="2000" u="none" cap="none" strike="noStrike">
              <a:solidFill>
                <a:schemeClr val="dk1"/>
              </a:solidFill>
              <a:latin typeface="Calibri"/>
              <a:ea typeface="Calibri"/>
              <a:cs typeface="Calibri"/>
              <a:sym typeface="Calibri"/>
            </a:endParaRPr>
          </a:p>
        </p:txBody>
      </p:sp>
      <p:sp>
        <p:nvSpPr>
          <p:cNvPr id="48" name="Google Shape;48;p2"/>
          <p:cNvSpPr txBox="1"/>
          <p:nvPr/>
        </p:nvSpPr>
        <p:spPr>
          <a:xfrm>
            <a:off x="5074920" y="2194560"/>
            <a:ext cx="3383280" cy="21031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El LLM decide qué herramienta usar</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Consulta, razonamiento y escritura</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Memoria de corto y largo plazo</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600"/>
              <a:buFont typeface="Calibri"/>
              <a:buChar char="•"/>
            </a:pPr>
            <a:r>
              <a:rPr b="0" i="0" lang="en-US" sz="1600" u="none" cap="none" strike="noStrike">
                <a:solidFill>
                  <a:schemeClr val="lt1"/>
                </a:solidFill>
                <a:latin typeface="Calibri"/>
                <a:ea typeface="Calibri"/>
                <a:cs typeface="Calibri"/>
                <a:sym typeface="Calibri"/>
              </a:rPr>
              <a:t>Re-planifica si algo no es posible</a:t>
            </a:r>
            <a:endParaRPr b="0" i="0" sz="1600" u="none" cap="none" strike="noStrike">
              <a:solidFill>
                <a:schemeClr val="dk1"/>
              </a:solidFill>
              <a:latin typeface="Calibri"/>
              <a:ea typeface="Calibri"/>
              <a:cs typeface="Calibri"/>
              <a:sym typeface="Calibri"/>
            </a:endParaRPr>
          </a:p>
        </p:txBody>
      </p:sp>
      <p:sp>
        <p:nvSpPr>
          <p:cNvPr id="49" name="Google Shape;49;p2"/>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sp>
        <p:nvSpPr>
          <p:cNvPr id="55" name="Google Shape;55;p3"/>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Orquestación del agente</a:t>
            </a:r>
            <a:endParaRPr sz="3400"/>
          </a:p>
        </p:txBody>
      </p:sp>
      <p:pic>
        <p:nvPicPr>
          <p:cNvPr descr="Diagrama de orquestación: paciente, orquestador, agente con cinco herramientas, memoria de corto plazo y trazabilidad" id="56" name="Google Shape;56;p3"/>
          <p:cNvPicPr preferRelativeResize="0"/>
          <p:nvPr/>
        </p:nvPicPr>
        <p:blipFill rotWithShape="1">
          <a:blip r:embed="rId3">
            <a:alphaModFix/>
          </a:blip>
          <a:srcRect b="0" l="0" r="0" t="0"/>
          <a:stretch/>
        </p:blipFill>
        <p:spPr>
          <a:xfrm>
            <a:off x="1371600" y="914400"/>
            <a:ext cx="6400800" cy="4096512"/>
          </a:xfrm>
          <a:prstGeom prst="rect">
            <a:avLst/>
          </a:prstGeom>
          <a:noFill/>
          <a:ln>
            <a:noFill/>
          </a:ln>
        </p:spPr>
      </p:pic>
      <p:sp>
        <p:nvSpPr>
          <p:cNvPr id="57" name="Google Shape;57;p3"/>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4"/>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Herramientas y framework</a:t>
            </a:r>
            <a:endParaRPr sz="3400"/>
          </a:p>
        </p:txBody>
      </p:sp>
      <p:sp>
        <p:nvSpPr>
          <p:cNvPr id="64" name="Google Shape;64;p4"/>
          <p:cNvSpPr/>
          <p:nvPr/>
        </p:nvSpPr>
        <p:spPr>
          <a:xfrm>
            <a:off x="457200" y="1097280"/>
            <a:ext cx="512064" cy="512064"/>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buscar_informacion_clinica" id="65" name="Google Shape;65;p4"/>
          <p:cNvPicPr preferRelativeResize="0"/>
          <p:nvPr/>
        </p:nvPicPr>
        <p:blipFill rotWithShape="1">
          <a:blip r:embed="rId3">
            <a:alphaModFix/>
          </a:blip>
          <a:srcRect b="0" l="0" r="0" t="0"/>
          <a:stretch/>
        </p:blipFill>
        <p:spPr>
          <a:xfrm>
            <a:off x="585216" y="1225296"/>
            <a:ext cx="256032" cy="256032"/>
          </a:xfrm>
          <a:prstGeom prst="rect">
            <a:avLst/>
          </a:prstGeom>
          <a:noFill/>
          <a:ln>
            <a:noFill/>
          </a:ln>
        </p:spPr>
      </p:pic>
      <p:sp>
        <p:nvSpPr>
          <p:cNvPr id="66" name="Google Shape;66;p4"/>
          <p:cNvSpPr txBox="1"/>
          <p:nvPr/>
        </p:nvSpPr>
        <p:spPr>
          <a:xfrm>
            <a:off x="1097280" y="1078992"/>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buscar_informacion_clinica</a:t>
            </a:r>
            <a:endParaRPr b="0" i="0" sz="1600" u="none" cap="none" strike="noStrike">
              <a:solidFill>
                <a:schemeClr val="dk1"/>
              </a:solidFill>
              <a:latin typeface="Calibri"/>
              <a:ea typeface="Calibri"/>
              <a:cs typeface="Calibri"/>
              <a:sym typeface="Calibri"/>
            </a:endParaRPr>
          </a:p>
        </p:txBody>
      </p:sp>
      <p:sp>
        <p:nvSpPr>
          <p:cNvPr id="67" name="Google Shape;67;p4"/>
          <p:cNvSpPr txBox="1"/>
          <p:nvPr/>
        </p:nvSpPr>
        <p:spPr>
          <a:xfrm>
            <a:off x="1097280" y="1362456"/>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Consulta · RAG con fuente</a:t>
            </a:r>
            <a:endParaRPr b="0" i="0" sz="1200" u="none" cap="none" strike="noStrike">
              <a:solidFill>
                <a:schemeClr val="dk1"/>
              </a:solidFill>
              <a:latin typeface="Calibri"/>
              <a:ea typeface="Calibri"/>
              <a:cs typeface="Calibri"/>
              <a:sym typeface="Calibri"/>
            </a:endParaRPr>
          </a:p>
        </p:txBody>
      </p:sp>
      <p:sp>
        <p:nvSpPr>
          <p:cNvPr id="68" name="Google Shape;68;p4"/>
          <p:cNvSpPr/>
          <p:nvPr/>
        </p:nvSpPr>
        <p:spPr>
          <a:xfrm>
            <a:off x="457200" y="1773936"/>
            <a:ext cx="512064" cy="512064"/>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onsultar_memoria_paciente" id="69" name="Google Shape;69;p4"/>
          <p:cNvPicPr preferRelativeResize="0"/>
          <p:nvPr/>
        </p:nvPicPr>
        <p:blipFill rotWithShape="1">
          <a:blip r:embed="rId4">
            <a:alphaModFix/>
          </a:blip>
          <a:srcRect b="0" l="0" r="0" t="0"/>
          <a:stretch/>
        </p:blipFill>
        <p:spPr>
          <a:xfrm>
            <a:off x="585216" y="1901952"/>
            <a:ext cx="256032" cy="256032"/>
          </a:xfrm>
          <a:prstGeom prst="rect">
            <a:avLst/>
          </a:prstGeom>
          <a:noFill/>
          <a:ln>
            <a:noFill/>
          </a:ln>
        </p:spPr>
      </p:pic>
      <p:sp>
        <p:nvSpPr>
          <p:cNvPr id="70" name="Google Shape;70;p4"/>
          <p:cNvSpPr txBox="1"/>
          <p:nvPr/>
        </p:nvSpPr>
        <p:spPr>
          <a:xfrm>
            <a:off x="1097280" y="1755648"/>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consultar_memoria_paciente</a:t>
            </a:r>
            <a:endParaRPr b="0" i="0" sz="1600" u="none" cap="none" strike="noStrike">
              <a:solidFill>
                <a:schemeClr val="dk1"/>
              </a:solidFill>
              <a:latin typeface="Calibri"/>
              <a:ea typeface="Calibri"/>
              <a:cs typeface="Calibri"/>
              <a:sym typeface="Calibri"/>
            </a:endParaRPr>
          </a:p>
        </p:txBody>
      </p:sp>
      <p:sp>
        <p:nvSpPr>
          <p:cNvPr id="71" name="Google Shape;71;p4"/>
          <p:cNvSpPr txBox="1"/>
          <p:nvPr/>
        </p:nvSpPr>
        <p:spPr>
          <a:xfrm>
            <a:off x="1097280" y="2039112"/>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Consulta · antecedentes por RUT</a:t>
            </a:r>
            <a:endParaRPr b="0" i="0" sz="1200" u="none" cap="none" strike="noStrike">
              <a:solidFill>
                <a:schemeClr val="dk1"/>
              </a:solidFill>
              <a:latin typeface="Calibri"/>
              <a:ea typeface="Calibri"/>
              <a:cs typeface="Calibri"/>
              <a:sym typeface="Calibri"/>
            </a:endParaRPr>
          </a:p>
        </p:txBody>
      </p:sp>
      <p:sp>
        <p:nvSpPr>
          <p:cNvPr id="72" name="Google Shape;72;p4"/>
          <p:cNvSpPr/>
          <p:nvPr/>
        </p:nvSpPr>
        <p:spPr>
          <a:xfrm>
            <a:off x="457200" y="2450592"/>
            <a:ext cx="512064" cy="512064"/>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verificar_disponibilidad" id="73" name="Google Shape;73;p4"/>
          <p:cNvPicPr preferRelativeResize="0"/>
          <p:nvPr/>
        </p:nvPicPr>
        <p:blipFill rotWithShape="1">
          <a:blip r:embed="rId5">
            <a:alphaModFix/>
          </a:blip>
          <a:srcRect b="0" l="0" r="0" t="0"/>
          <a:stretch/>
        </p:blipFill>
        <p:spPr>
          <a:xfrm>
            <a:off x="585216" y="2578608"/>
            <a:ext cx="256032" cy="256032"/>
          </a:xfrm>
          <a:prstGeom prst="rect">
            <a:avLst/>
          </a:prstGeom>
          <a:noFill/>
          <a:ln>
            <a:noFill/>
          </a:ln>
        </p:spPr>
      </p:pic>
      <p:sp>
        <p:nvSpPr>
          <p:cNvPr id="74" name="Google Shape;74;p4"/>
          <p:cNvSpPr txBox="1"/>
          <p:nvPr/>
        </p:nvSpPr>
        <p:spPr>
          <a:xfrm>
            <a:off x="1097280" y="2432304"/>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verificar_disponibilidad</a:t>
            </a:r>
            <a:endParaRPr b="0" i="0" sz="1600" u="none" cap="none" strike="noStrike">
              <a:solidFill>
                <a:schemeClr val="dk1"/>
              </a:solidFill>
              <a:latin typeface="Calibri"/>
              <a:ea typeface="Calibri"/>
              <a:cs typeface="Calibri"/>
              <a:sym typeface="Calibri"/>
            </a:endParaRPr>
          </a:p>
        </p:txBody>
      </p:sp>
      <p:sp>
        <p:nvSpPr>
          <p:cNvPr id="75" name="Google Shape;75;p4"/>
          <p:cNvSpPr txBox="1"/>
          <p:nvPr/>
        </p:nvSpPr>
        <p:spPr>
          <a:xfrm>
            <a:off x="1097280" y="2715768"/>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Razonamiento · cupo por día</a:t>
            </a:r>
            <a:endParaRPr b="0" i="0" sz="1200" u="none" cap="none" strike="noStrike">
              <a:solidFill>
                <a:schemeClr val="dk1"/>
              </a:solidFill>
              <a:latin typeface="Calibri"/>
              <a:ea typeface="Calibri"/>
              <a:cs typeface="Calibri"/>
              <a:sym typeface="Calibri"/>
            </a:endParaRPr>
          </a:p>
        </p:txBody>
      </p:sp>
      <p:sp>
        <p:nvSpPr>
          <p:cNvPr id="76" name="Google Shape;76;p4"/>
          <p:cNvSpPr/>
          <p:nvPr/>
        </p:nvSpPr>
        <p:spPr>
          <a:xfrm>
            <a:off x="457200" y="3127248"/>
            <a:ext cx="512064" cy="512064"/>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registrar_solicitud" id="77" name="Google Shape;77;p4"/>
          <p:cNvPicPr preferRelativeResize="0"/>
          <p:nvPr/>
        </p:nvPicPr>
        <p:blipFill rotWithShape="1">
          <a:blip r:embed="rId6">
            <a:alphaModFix/>
          </a:blip>
          <a:srcRect b="0" l="0" r="0" t="0"/>
          <a:stretch/>
        </p:blipFill>
        <p:spPr>
          <a:xfrm>
            <a:off x="585216" y="3255264"/>
            <a:ext cx="256032" cy="256032"/>
          </a:xfrm>
          <a:prstGeom prst="rect">
            <a:avLst/>
          </a:prstGeom>
          <a:noFill/>
          <a:ln>
            <a:noFill/>
          </a:ln>
        </p:spPr>
      </p:pic>
      <p:sp>
        <p:nvSpPr>
          <p:cNvPr id="78" name="Google Shape;78;p4"/>
          <p:cNvSpPr txBox="1"/>
          <p:nvPr/>
        </p:nvSpPr>
        <p:spPr>
          <a:xfrm>
            <a:off x="1097280" y="3108960"/>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registrar_solicitud</a:t>
            </a:r>
            <a:endParaRPr b="0" i="0" sz="1600" u="none" cap="none" strike="noStrike">
              <a:solidFill>
                <a:schemeClr val="dk1"/>
              </a:solidFill>
              <a:latin typeface="Calibri"/>
              <a:ea typeface="Calibri"/>
              <a:cs typeface="Calibri"/>
              <a:sym typeface="Calibri"/>
            </a:endParaRPr>
          </a:p>
        </p:txBody>
      </p:sp>
      <p:sp>
        <p:nvSpPr>
          <p:cNvPr id="79" name="Google Shape;79;p4"/>
          <p:cNvSpPr txBox="1"/>
          <p:nvPr/>
        </p:nvSpPr>
        <p:spPr>
          <a:xfrm>
            <a:off x="1097280" y="3392424"/>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Escritura · hora o derivación</a:t>
            </a:r>
            <a:endParaRPr b="0" i="0" sz="1200" u="none" cap="none" strike="noStrike">
              <a:solidFill>
                <a:schemeClr val="dk1"/>
              </a:solidFill>
              <a:latin typeface="Calibri"/>
              <a:ea typeface="Calibri"/>
              <a:cs typeface="Calibri"/>
              <a:sym typeface="Calibri"/>
            </a:endParaRPr>
          </a:p>
        </p:txBody>
      </p:sp>
      <p:sp>
        <p:nvSpPr>
          <p:cNvPr id="80" name="Google Shape;80;p4"/>
          <p:cNvSpPr/>
          <p:nvPr/>
        </p:nvSpPr>
        <p:spPr>
          <a:xfrm>
            <a:off x="457200" y="3803904"/>
            <a:ext cx="512064" cy="512064"/>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redactar_mensaje_recepcion" id="81" name="Google Shape;81;p4"/>
          <p:cNvPicPr preferRelativeResize="0"/>
          <p:nvPr/>
        </p:nvPicPr>
        <p:blipFill rotWithShape="1">
          <a:blip r:embed="rId7">
            <a:alphaModFix/>
          </a:blip>
          <a:srcRect b="0" l="0" r="0" t="0"/>
          <a:stretch/>
        </p:blipFill>
        <p:spPr>
          <a:xfrm>
            <a:off x="585216" y="3931920"/>
            <a:ext cx="256032" cy="256032"/>
          </a:xfrm>
          <a:prstGeom prst="rect">
            <a:avLst/>
          </a:prstGeom>
          <a:noFill/>
          <a:ln>
            <a:noFill/>
          </a:ln>
        </p:spPr>
      </p:pic>
      <p:sp>
        <p:nvSpPr>
          <p:cNvPr id="82" name="Google Shape;82;p4"/>
          <p:cNvSpPr txBox="1"/>
          <p:nvPr/>
        </p:nvSpPr>
        <p:spPr>
          <a:xfrm>
            <a:off x="1097280" y="3785616"/>
            <a:ext cx="4480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redactar_mensaje_recepcion</a:t>
            </a:r>
            <a:endParaRPr b="0" i="0" sz="1600" u="none" cap="none" strike="noStrike">
              <a:solidFill>
                <a:schemeClr val="dk1"/>
              </a:solidFill>
              <a:latin typeface="Calibri"/>
              <a:ea typeface="Calibri"/>
              <a:cs typeface="Calibri"/>
              <a:sym typeface="Calibri"/>
            </a:endParaRPr>
          </a:p>
        </p:txBody>
      </p:sp>
      <p:sp>
        <p:nvSpPr>
          <p:cNvPr id="83" name="Google Shape;83;p4"/>
          <p:cNvSpPr txBox="1"/>
          <p:nvPr/>
        </p:nvSpPr>
        <p:spPr>
          <a:xfrm>
            <a:off x="1097280" y="4069080"/>
            <a:ext cx="44805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Escritura · borrador para recepción</a:t>
            </a:r>
            <a:endParaRPr b="0" i="0" sz="1200" u="none" cap="none" strike="noStrike">
              <a:solidFill>
                <a:schemeClr val="dk1"/>
              </a:solidFill>
              <a:latin typeface="Calibri"/>
              <a:ea typeface="Calibri"/>
              <a:cs typeface="Calibri"/>
              <a:sym typeface="Calibri"/>
            </a:endParaRPr>
          </a:p>
        </p:txBody>
      </p:sp>
      <p:sp>
        <p:nvSpPr>
          <p:cNvPr id="84" name="Google Shape;84;p4"/>
          <p:cNvSpPr/>
          <p:nvPr/>
        </p:nvSpPr>
        <p:spPr>
          <a:xfrm>
            <a:off x="5852160" y="1097280"/>
            <a:ext cx="2834640" cy="3337560"/>
          </a:xfrm>
          <a:prstGeom prst="roundRect">
            <a:avLst>
              <a:gd fmla="val 2581"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4"/>
          <p:cNvSpPr txBox="1"/>
          <p:nvPr/>
        </p:nvSpPr>
        <p:spPr>
          <a:xfrm>
            <a:off x="6035040" y="1234440"/>
            <a:ext cx="2468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Por qué tool calling</a:t>
            </a:r>
            <a:endParaRPr b="0" i="0" sz="1800" u="none" cap="none" strike="noStrike">
              <a:solidFill>
                <a:schemeClr val="dk1"/>
              </a:solidFill>
              <a:latin typeface="Calibri"/>
              <a:ea typeface="Calibri"/>
              <a:cs typeface="Calibri"/>
              <a:sym typeface="Calibri"/>
            </a:endParaRPr>
          </a:p>
        </p:txBody>
      </p:sp>
      <p:sp>
        <p:nvSpPr>
          <p:cNvPr id="86" name="Google Shape;86;p4"/>
          <p:cNvSpPr txBox="1"/>
          <p:nvPr/>
        </p:nvSpPr>
        <p:spPr>
          <a:xfrm>
            <a:off x="6035040" y="1691640"/>
            <a:ext cx="2514600" cy="26517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LangChain AgentExecutor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El LLM elige la herramienta por su docstring</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Agregar una: función + @tool</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Reemplaza el if/else de EP1</a:t>
            </a:r>
            <a:endParaRPr b="0" i="0" sz="1400" u="none" cap="none" strike="noStrike">
              <a:solidFill>
                <a:schemeClr val="dk1"/>
              </a:solidFill>
              <a:latin typeface="Calibri"/>
              <a:ea typeface="Calibri"/>
              <a:cs typeface="Calibri"/>
              <a:sym typeface="Calibri"/>
            </a:endParaRPr>
          </a:p>
        </p:txBody>
      </p:sp>
      <p:sp>
        <p:nvSpPr>
          <p:cNvPr id="87" name="Google Shape;87;p4"/>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5"/>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Memoria y recuperación de contexto</a:t>
            </a:r>
            <a:endParaRPr sz="3400"/>
          </a:p>
        </p:txBody>
      </p:sp>
      <p:sp>
        <p:nvSpPr>
          <p:cNvPr id="94" name="Google Shape;94;p5"/>
          <p:cNvSpPr/>
          <p:nvPr/>
        </p:nvSpPr>
        <p:spPr>
          <a:xfrm>
            <a:off x="457200" y="1097280"/>
            <a:ext cx="2651760" cy="278892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5"/>
          <p:cNvSpPr/>
          <p:nvPr/>
        </p:nvSpPr>
        <p:spPr>
          <a:xfrm>
            <a:off x="640080" y="1261872"/>
            <a:ext cx="548640" cy="54864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Corto plazo" id="96" name="Google Shape;96;p5"/>
          <p:cNvPicPr preferRelativeResize="0"/>
          <p:nvPr/>
        </p:nvPicPr>
        <p:blipFill rotWithShape="1">
          <a:blip r:embed="rId3">
            <a:alphaModFix/>
          </a:blip>
          <a:srcRect b="0" l="0" r="0" t="0"/>
          <a:stretch/>
        </p:blipFill>
        <p:spPr>
          <a:xfrm>
            <a:off x="777240" y="1399032"/>
            <a:ext cx="274320" cy="274320"/>
          </a:xfrm>
          <a:prstGeom prst="rect">
            <a:avLst/>
          </a:prstGeom>
          <a:noFill/>
          <a:ln>
            <a:noFill/>
          </a:ln>
        </p:spPr>
      </p:pic>
      <p:sp>
        <p:nvSpPr>
          <p:cNvPr id="97" name="Google Shape;97;p5"/>
          <p:cNvSpPr txBox="1"/>
          <p:nvPr/>
        </p:nvSpPr>
        <p:spPr>
          <a:xfrm>
            <a:off x="640080" y="192024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Corto plazo</a:t>
            </a:r>
            <a:endParaRPr b="0" i="0" sz="1800" u="none" cap="none" strike="noStrike">
              <a:solidFill>
                <a:schemeClr val="dk1"/>
              </a:solidFill>
              <a:latin typeface="Calibri"/>
              <a:ea typeface="Calibri"/>
              <a:cs typeface="Calibri"/>
              <a:sym typeface="Calibri"/>
            </a:endParaRPr>
          </a:p>
        </p:txBody>
      </p:sp>
      <p:sp>
        <p:nvSpPr>
          <p:cNvPr id="98" name="Google Shape;98;p5"/>
          <p:cNvSpPr txBox="1"/>
          <p:nvPr/>
        </p:nvSpPr>
        <p:spPr>
          <a:xfrm>
            <a:off x="640080" y="2377440"/>
            <a:ext cx="2331720" cy="14173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Memoria de resumen, una por RUT</a:t>
            </a:r>
            <a:endParaRPr b="0" i="0" sz="14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Resume los turnos antiguos sobre 800 tokens</a:t>
            </a:r>
            <a:endParaRPr b="0" i="0" sz="1400" u="none" cap="none" strike="noStrike">
              <a:solidFill>
                <a:schemeClr val="dk1"/>
              </a:solidFill>
              <a:latin typeface="Calibri"/>
              <a:ea typeface="Calibri"/>
              <a:cs typeface="Calibri"/>
              <a:sym typeface="Calibri"/>
            </a:endParaRPr>
          </a:p>
        </p:txBody>
      </p:sp>
      <p:sp>
        <p:nvSpPr>
          <p:cNvPr id="99" name="Google Shape;99;p5"/>
          <p:cNvSpPr/>
          <p:nvPr/>
        </p:nvSpPr>
        <p:spPr>
          <a:xfrm>
            <a:off x="3246120" y="1097280"/>
            <a:ext cx="2651760" cy="278892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5"/>
          <p:cNvSpPr/>
          <p:nvPr/>
        </p:nvSpPr>
        <p:spPr>
          <a:xfrm>
            <a:off x="3429000" y="1261872"/>
            <a:ext cx="548640" cy="548640"/>
          </a:xfrm>
          <a:prstGeom prst="ellipse">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Largo plazo" id="101" name="Google Shape;101;p5"/>
          <p:cNvPicPr preferRelativeResize="0"/>
          <p:nvPr/>
        </p:nvPicPr>
        <p:blipFill rotWithShape="1">
          <a:blip r:embed="rId4">
            <a:alphaModFix/>
          </a:blip>
          <a:srcRect b="0" l="0" r="0" t="0"/>
          <a:stretch/>
        </p:blipFill>
        <p:spPr>
          <a:xfrm>
            <a:off x="3566160" y="1399032"/>
            <a:ext cx="274320" cy="274320"/>
          </a:xfrm>
          <a:prstGeom prst="rect">
            <a:avLst/>
          </a:prstGeom>
          <a:noFill/>
          <a:ln>
            <a:noFill/>
          </a:ln>
        </p:spPr>
      </p:pic>
      <p:sp>
        <p:nvSpPr>
          <p:cNvPr id="102" name="Google Shape;102;p5"/>
          <p:cNvSpPr txBox="1"/>
          <p:nvPr/>
        </p:nvSpPr>
        <p:spPr>
          <a:xfrm>
            <a:off x="3429000" y="192024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Largo plazo</a:t>
            </a:r>
            <a:endParaRPr b="0" i="0" sz="1800" u="none" cap="none" strike="noStrike">
              <a:solidFill>
                <a:schemeClr val="dk1"/>
              </a:solidFill>
              <a:latin typeface="Calibri"/>
              <a:ea typeface="Calibri"/>
              <a:cs typeface="Calibri"/>
              <a:sym typeface="Calibri"/>
            </a:endParaRPr>
          </a:p>
        </p:txBody>
      </p:sp>
      <p:sp>
        <p:nvSpPr>
          <p:cNvPr id="103" name="Google Shape;103;p5"/>
          <p:cNvSpPr txBox="1"/>
          <p:nvPr/>
        </p:nvSpPr>
        <p:spPr>
          <a:xfrm>
            <a:off x="3429000" y="2377440"/>
            <a:ext cx="2331720" cy="14173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Archivo JSON indexado por RUT</a:t>
            </a:r>
            <a:endParaRPr b="0" i="0" sz="14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Antecedentes de sesiones anteriores</a:t>
            </a:r>
            <a:endParaRPr b="0" i="0" sz="1400" u="none" cap="none" strike="noStrike">
              <a:solidFill>
                <a:schemeClr val="dk1"/>
              </a:solidFill>
              <a:latin typeface="Calibri"/>
              <a:ea typeface="Calibri"/>
              <a:cs typeface="Calibri"/>
              <a:sym typeface="Calibri"/>
            </a:endParaRPr>
          </a:p>
        </p:txBody>
      </p:sp>
      <p:sp>
        <p:nvSpPr>
          <p:cNvPr id="104" name="Google Shape;104;p5"/>
          <p:cNvSpPr/>
          <p:nvPr/>
        </p:nvSpPr>
        <p:spPr>
          <a:xfrm>
            <a:off x="6035040" y="1097280"/>
            <a:ext cx="2651760" cy="278892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
          <p:cNvSpPr/>
          <p:nvPr/>
        </p:nvSpPr>
        <p:spPr>
          <a:xfrm>
            <a:off x="6217920" y="1261872"/>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o RAG semántico" id="106" name="Google Shape;106;p5"/>
          <p:cNvPicPr preferRelativeResize="0"/>
          <p:nvPr/>
        </p:nvPicPr>
        <p:blipFill rotWithShape="1">
          <a:blip r:embed="rId5">
            <a:alphaModFix/>
          </a:blip>
          <a:srcRect b="0" l="0" r="0" t="0"/>
          <a:stretch/>
        </p:blipFill>
        <p:spPr>
          <a:xfrm>
            <a:off x="6355080" y="1399032"/>
            <a:ext cx="274320" cy="274320"/>
          </a:xfrm>
          <a:prstGeom prst="rect">
            <a:avLst/>
          </a:prstGeom>
          <a:noFill/>
          <a:ln>
            <a:noFill/>
          </a:ln>
        </p:spPr>
      </p:pic>
      <p:sp>
        <p:nvSpPr>
          <p:cNvPr id="107" name="Google Shape;107;p5"/>
          <p:cNvSpPr txBox="1"/>
          <p:nvPr/>
        </p:nvSpPr>
        <p:spPr>
          <a:xfrm>
            <a:off x="6217920" y="192024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RAG semántico</a:t>
            </a:r>
            <a:endParaRPr b="0" i="0" sz="1800" u="none" cap="none" strike="noStrike">
              <a:solidFill>
                <a:schemeClr val="dk1"/>
              </a:solidFill>
              <a:latin typeface="Calibri"/>
              <a:ea typeface="Calibri"/>
              <a:cs typeface="Calibri"/>
              <a:sym typeface="Calibri"/>
            </a:endParaRPr>
          </a:p>
        </p:txBody>
      </p:sp>
      <p:sp>
        <p:nvSpPr>
          <p:cNvPr id="108" name="Google Shape;108;p5"/>
          <p:cNvSpPr txBox="1"/>
          <p:nvPr/>
        </p:nvSpPr>
        <p:spPr>
          <a:xfrm>
            <a:off x="6217920" y="2377440"/>
            <a:ext cx="2331720" cy="141732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ChromaDB con embeddings multilingües</a:t>
            </a:r>
            <a:endParaRPr b="0" i="0" sz="14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Trae los 4 fragmentos más relevantes, con fuente</a:t>
            </a:r>
            <a:endParaRPr b="0" i="0" sz="1400" u="none" cap="none" strike="noStrike">
              <a:solidFill>
                <a:schemeClr val="dk1"/>
              </a:solidFill>
              <a:latin typeface="Calibri"/>
              <a:ea typeface="Calibri"/>
              <a:cs typeface="Calibri"/>
              <a:sym typeface="Calibri"/>
            </a:endParaRPr>
          </a:p>
        </p:txBody>
      </p:sp>
      <p:sp>
        <p:nvSpPr>
          <p:cNvPr id="109" name="Google Shape;109;p5"/>
          <p:cNvSpPr/>
          <p:nvPr/>
        </p:nvSpPr>
        <p:spPr>
          <a:xfrm>
            <a:off x="457200" y="4069080"/>
            <a:ext cx="8229600" cy="640080"/>
          </a:xfrm>
          <a:prstGeom prst="roundRect">
            <a:avLst>
              <a:gd fmla="val 11429" name="adj"/>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txBox="1"/>
          <p:nvPr/>
        </p:nvSpPr>
        <p:spPr>
          <a:xfrm>
            <a:off x="640080" y="4069080"/>
            <a:ext cx="78638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Si el paciente da su RUT a mitad de la conversación, la memoria anónima se migra a ese RUT</a:t>
            </a:r>
            <a:endParaRPr b="0" i="0" sz="1400" u="none" cap="none" strike="noStrike">
              <a:solidFill>
                <a:schemeClr val="dk1"/>
              </a:solidFill>
              <a:latin typeface="Calibri"/>
              <a:ea typeface="Calibri"/>
              <a:cs typeface="Calibri"/>
              <a:sym typeface="Calibri"/>
            </a:endParaRPr>
          </a:p>
        </p:txBody>
      </p:sp>
      <p:sp>
        <p:nvSpPr>
          <p:cNvPr id="111" name="Google Shape;111;p5"/>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6"/>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Planificación y decisiones adaptativas</a:t>
            </a:r>
            <a:endParaRPr sz="3400"/>
          </a:p>
        </p:txBody>
      </p:sp>
      <p:sp>
        <p:nvSpPr>
          <p:cNvPr id="118" name="Google Shape;118;p6"/>
          <p:cNvSpPr/>
          <p:nvPr/>
        </p:nvSpPr>
        <p:spPr>
          <a:xfrm>
            <a:off x="457200" y="1097280"/>
            <a:ext cx="1965960" cy="1417320"/>
          </a:xfrm>
          <a:prstGeom prst="roundRect">
            <a:avLst>
              <a:gd fmla="val 5161"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6"/>
          <p:cNvSpPr txBox="1"/>
          <p:nvPr/>
        </p:nvSpPr>
        <p:spPr>
          <a:xfrm>
            <a:off x="548640"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Pide hora el lunes</a:t>
            </a:r>
            <a:endParaRPr b="0" i="0" sz="1600" u="none" cap="none" strike="noStrike">
              <a:solidFill>
                <a:schemeClr val="dk1"/>
              </a:solidFill>
              <a:latin typeface="Calibri"/>
              <a:ea typeface="Calibri"/>
              <a:cs typeface="Calibri"/>
              <a:sym typeface="Calibri"/>
            </a:endParaRPr>
          </a:p>
        </p:txBody>
      </p:sp>
      <p:sp>
        <p:nvSpPr>
          <p:cNvPr id="120" name="Google Shape;120;p6"/>
          <p:cNvSpPr txBox="1"/>
          <p:nvPr/>
        </p:nvSpPr>
        <p:spPr>
          <a:xfrm>
            <a:off x="548640"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Dr. Soto, sin cupo ese día</a:t>
            </a:r>
            <a:endParaRPr b="0" i="0" sz="1200" u="none" cap="none" strike="noStrike">
              <a:solidFill>
                <a:schemeClr val="dk1"/>
              </a:solidFill>
              <a:latin typeface="Calibri"/>
              <a:ea typeface="Calibri"/>
              <a:cs typeface="Calibri"/>
              <a:sym typeface="Calibri"/>
            </a:endParaRPr>
          </a:p>
        </p:txBody>
      </p:sp>
      <p:sp>
        <p:nvSpPr>
          <p:cNvPr id="121" name="Google Shape;121;p6"/>
          <p:cNvSpPr/>
          <p:nvPr/>
        </p:nvSpPr>
        <p:spPr>
          <a:xfrm>
            <a:off x="2544775" y="1097280"/>
            <a:ext cx="1965960" cy="1417320"/>
          </a:xfrm>
          <a:prstGeom prst="roundRect">
            <a:avLst>
              <a:gd fmla="val 5161" name="adj"/>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6"/>
          <p:cNvSpPr txBox="1"/>
          <p:nvPr/>
        </p:nvSpPr>
        <p:spPr>
          <a:xfrm>
            <a:off x="2636215"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Verifica cupo</a:t>
            </a:r>
            <a:endParaRPr b="0" i="0" sz="1600" u="none" cap="none" strike="noStrike">
              <a:solidFill>
                <a:schemeClr val="dk1"/>
              </a:solidFill>
              <a:latin typeface="Calibri"/>
              <a:ea typeface="Calibri"/>
              <a:cs typeface="Calibri"/>
              <a:sym typeface="Calibri"/>
            </a:endParaRPr>
          </a:p>
        </p:txBody>
      </p:sp>
      <p:sp>
        <p:nvSpPr>
          <p:cNvPr id="123" name="Google Shape;123;p6"/>
          <p:cNvSpPr txBox="1"/>
          <p:nvPr/>
        </p:nvSpPr>
        <p:spPr>
          <a:xfrm>
            <a:off x="2636215"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verificar_disponibilidad</a:t>
            </a:r>
            <a:endParaRPr b="0" i="0" sz="1200" u="none" cap="none" strike="noStrike">
              <a:solidFill>
                <a:schemeClr val="dk1"/>
              </a:solidFill>
              <a:latin typeface="Calibri"/>
              <a:ea typeface="Calibri"/>
              <a:cs typeface="Calibri"/>
              <a:sym typeface="Calibri"/>
            </a:endParaRPr>
          </a:p>
        </p:txBody>
      </p:sp>
      <p:sp>
        <p:nvSpPr>
          <p:cNvPr id="124" name="Google Shape;124;p6"/>
          <p:cNvSpPr/>
          <p:nvPr/>
        </p:nvSpPr>
        <p:spPr>
          <a:xfrm>
            <a:off x="4632350" y="1097280"/>
            <a:ext cx="1965960" cy="1417320"/>
          </a:xfrm>
          <a:prstGeom prst="roundRect">
            <a:avLst>
              <a:gd fmla="val 5161" name="adj"/>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6"/>
          <p:cNvSpPr txBox="1"/>
          <p:nvPr/>
        </p:nvSpPr>
        <p:spPr>
          <a:xfrm>
            <a:off x="4723790"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Re-planifica</a:t>
            </a:r>
            <a:endParaRPr b="0" i="0" sz="1600" u="none" cap="none" strike="noStrike">
              <a:solidFill>
                <a:schemeClr val="dk1"/>
              </a:solidFill>
              <a:latin typeface="Calibri"/>
              <a:ea typeface="Calibri"/>
              <a:cs typeface="Calibri"/>
              <a:sym typeface="Calibri"/>
            </a:endParaRPr>
          </a:p>
        </p:txBody>
      </p:sp>
      <p:sp>
        <p:nvSpPr>
          <p:cNvPr id="126" name="Google Shape;126;p6"/>
          <p:cNvSpPr txBox="1"/>
          <p:nvPr/>
        </p:nvSpPr>
        <p:spPr>
          <a:xfrm>
            <a:off x="4723790"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Ofrece miércoles o viernes</a:t>
            </a:r>
            <a:endParaRPr b="0" i="0" sz="1200" u="none" cap="none" strike="noStrike">
              <a:solidFill>
                <a:schemeClr val="dk1"/>
              </a:solidFill>
              <a:latin typeface="Calibri"/>
              <a:ea typeface="Calibri"/>
              <a:cs typeface="Calibri"/>
              <a:sym typeface="Calibri"/>
            </a:endParaRPr>
          </a:p>
        </p:txBody>
      </p:sp>
      <p:sp>
        <p:nvSpPr>
          <p:cNvPr id="127" name="Google Shape;127;p6"/>
          <p:cNvSpPr/>
          <p:nvPr/>
        </p:nvSpPr>
        <p:spPr>
          <a:xfrm>
            <a:off x="6719926" y="1097280"/>
            <a:ext cx="1965960" cy="1417320"/>
          </a:xfrm>
          <a:prstGeom prst="roundRect">
            <a:avLst>
              <a:gd fmla="val 5161" name="adj"/>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6"/>
          <p:cNvSpPr txBox="1"/>
          <p:nvPr/>
        </p:nvSpPr>
        <p:spPr>
          <a:xfrm>
            <a:off x="6811366" y="1207008"/>
            <a:ext cx="1783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Registra o escala</a:t>
            </a:r>
            <a:endParaRPr b="0" i="0" sz="1600" u="none" cap="none" strike="noStrike">
              <a:solidFill>
                <a:schemeClr val="dk1"/>
              </a:solidFill>
              <a:latin typeface="Calibri"/>
              <a:ea typeface="Calibri"/>
              <a:cs typeface="Calibri"/>
              <a:sym typeface="Calibri"/>
            </a:endParaRPr>
          </a:p>
        </p:txBody>
      </p:sp>
      <p:sp>
        <p:nvSpPr>
          <p:cNvPr id="129" name="Google Shape;129;p6"/>
          <p:cNvSpPr txBox="1"/>
          <p:nvPr/>
        </p:nvSpPr>
        <p:spPr>
          <a:xfrm>
            <a:off x="6811366" y="1627632"/>
            <a:ext cx="178308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Registra la hora o escribe a recepción</a:t>
            </a:r>
            <a:endParaRPr b="0" i="0" sz="1200" u="none" cap="none" strike="noStrike">
              <a:solidFill>
                <a:schemeClr val="dk1"/>
              </a:solidFill>
              <a:latin typeface="Calibri"/>
              <a:ea typeface="Calibri"/>
              <a:cs typeface="Calibri"/>
              <a:sym typeface="Calibri"/>
            </a:endParaRPr>
          </a:p>
        </p:txBody>
      </p:sp>
      <p:sp>
        <p:nvSpPr>
          <p:cNvPr id="130" name="Google Shape;130;p6"/>
          <p:cNvSpPr txBox="1"/>
          <p:nvPr/>
        </p:nvSpPr>
        <p:spPr>
          <a:xfrm>
            <a:off x="457200" y="274320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800"/>
              <a:buFont typeface="Calibri"/>
              <a:buNone/>
            </a:pPr>
            <a:r>
              <a:rPr b="1" i="0" lang="en-US" sz="1800" u="none" cap="none" strike="noStrike">
                <a:solidFill>
                  <a:schemeClr val="dk2"/>
                </a:solidFill>
                <a:latin typeface="Calibri"/>
                <a:ea typeface="Calibri"/>
                <a:cs typeface="Calibri"/>
                <a:sym typeface="Calibri"/>
              </a:rPr>
              <a:t>Prioridades del agente</a:t>
            </a:r>
            <a:endParaRPr b="0" i="0" sz="1800" u="none" cap="none" strike="noStrike">
              <a:solidFill>
                <a:schemeClr val="dk1"/>
              </a:solidFill>
              <a:latin typeface="Calibri"/>
              <a:ea typeface="Calibri"/>
              <a:cs typeface="Calibri"/>
              <a:sym typeface="Calibri"/>
            </a:endParaRPr>
          </a:p>
        </p:txBody>
      </p:sp>
      <p:sp>
        <p:nvSpPr>
          <p:cNvPr id="131" name="Google Shape;131;p6"/>
          <p:cNvSpPr/>
          <p:nvPr/>
        </p:nvSpPr>
        <p:spPr>
          <a:xfrm>
            <a:off x="457200"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566928"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6"/>
          <p:cNvSpPr txBox="1"/>
          <p:nvPr/>
        </p:nvSpPr>
        <p:spPr>
          <a:xfrm>
            <a:off x="566928"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34" name="Google Shape;134;p6"/>
          <p:cNvSpPr txBox="1"/>
          <p:nvPr/>
        </p:nvSpPr>
        <p:spPr>
          <a:xfrm>
            <a:off x="1051560"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Seguridad clínica</a:t>
            </a:r>
            <a:endParaRPr b="0" i="0" sz="1400" u="none" cap="none" strike="noStrike">
              <a:solidFill>
                <a:schemeClr val="dk1"/>
              </a:solidFill>
              <a:latin typeface="Calibri"/>
              <a:ea typeface="Calibri"/>
              <a:cs typeface="Calibri"/>
              <a:sym typeface="Calibri"/>
            </a:endParaRPr>
          </a:p>
        </p:txBody>
      </p:sp>
      <p:sp>
        <p:nvSpPr>
          <p:cNvPr id="135" name="Google Shape;135;p6"/>
          <p:cNvSpPr/>
          <p:nvPr/>
        </p:nvSpPr>
        <p:spPr>
          <a:xfrm>
            <a:off x="2544775"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6"/>
          <p:cNvSpPr/>
          <p:nvPr/>
        </p:nvSpPr>
        <p:spPr>
          <a:xfrm>
            <a:off x="2654503"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6"/>
          <p:cNvSpPr txBox="1"/>
          <p:nvPr/>
        </p:nvSpPr>
        <p:spPr>
          <a:xfrm>
            <a:off x="2654503"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38" name="Google Shape;138;p6"/>
          <p:cNvSpPr txBox="1"/>
          <p:nvPr/>
        </p:nvSpPr>
        <p:spPr>
          <a:xfrm>
            <a:off x="3139135"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Alcance del centro</a:t>
            </a:r>
            <a:endParaRPr b="0" i="0" sz="1400" u="none" cap="none" strike="noStrike">
              <a:solidFill>
                <a:schemeClr val="dk1"/>
              </a:solidFill>
              <a:latin typeface="Calibri"/>
              <a:ea typeface="Calibri"/>
              <a:cs typeface="Calibri"/>
              <a:sym typeface="Calibri"/>
            </a:endParaRPr>
          </a:p>
        </p:txBody>
      </p:sp>
      <p:sp>
        <p:nvSpPr>
          <p:cNvPr id="139" name="Google Shape;139;p6"/>
          <p:cNvSpPr/>
          <p:nvPr/>
        </p:nvSpPr>
        <p:spPr>
          <a:xfrm>
            <a:off x="4632350"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6"/>
          <p:cNvSpPr/>
          <p:nvPr/>
        </p:nvSpPr>
        <p:spPr>
          <a:xfrm>
            <a:off x="4742078"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6"/>
          <p:cNvSpPr txBox="1"/>
          <p:nvPr/>
        </p:nvSpPr>
        <p:spPr>
          <a:xfrm>
            <a:off x="4742078"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42" name="Google Shape;142;p6"/>
          <p:cNvSpPr txBox="1"/>
          <p:nvPr/>
        </p:nvSpPr>
        <p:spPr>
          <a:xfrm>
            <a:off x="5226710"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Información con fuente</a:t>
            </a:r>
            <a:endParaRPr b="0" i="0" sz="1400" u="none" cap="none" strike="noStrike">
              <a:solidFill>
                <a:schemeClr val="dk1"/>
              </a:solidFill>
              <a:latin typeface="Calibri"/>
              <a:ea typeface="Calibri"/>
              <a:cs typeface="Calibri"/>
              <a:sym typeface="Calibri"/>
            </a:endParaRPr>
          </a:p>
        </p:txBody>
      </p:sp>
      <p:sp>
        <p:nvSpPr>
          <p:cNvPr id="143" name="Google Shape;143;p6"/>
          <p:cNvSpPr/>
          <p:nvPr/>
        </p:nvSpPr>
        <p:spPr>
          <a:xfrm>
            <a:off x="6719926" y="3200400"/>
            <a:ext cx="1965960" cy="868680"/>
          </a:xfrm>
          <a:prstGeom prst="roundRect">
            <a:avLst>
              <a:gd fmla="val 8421" name="adj"/>
            </a:avLst>
          </a:prstGeom>
          <a:solidFill>
            <a:schemeClr val="accent6"/>
          </a:solidFill>
          <a:ln cap="flat" cmpd="sng" w="127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
          <p:cNvSpPr/>
          <p:nvPr/>
        </p:nvSpPr>
        <p:spPr>
          <a:xfrm>
            <a:off x="6829654" y="3438144"/>
            <a:ext cx="384048" cy="384048"/>
          </a:xfrm>
          <a:prstGeom prst="ellipse">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6"/>
          <p:cNvSpPr txBox="1"/>
          <p:nvPr/>
        </p:nvSpPr>
        <p:spPr>
          <a:xfrm>
            <a:off x="6829654" y="3438144"/>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46" name="Google Shape;146;p6"/>
          <p:cNvSpPr txBox="1"/>
          <p:nvPr/>
        </p:nvSpPr>
        <p:spPr>
          <a:xfrm>
            <a:off x="7314286" y="3200400"/>
            <a:ext cx="1298448"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Verificar antes de registrar</a:t>
            </a:r>
            <a:endParaRPr b="0" i="0" sz="1400" u="none" cap="none" strike="noStrike">
              <a:solidFill>
                <a:schemeClr val="dk1"/>
              </a:solidFill>
              <a:latin typeface="Calibri"/>
              <a:ea typeface="Calibri"/>
              <a:cs typeface="Calibri"/>
              <a:sym typeface="Calibri"/>
            </a:endParaRPr>
          </a:p>
        </p:txBody>
      </p:sp>
      <p:sp>
        <p:nvSpPr>
          <p:cNvPr id="147" name="Google Shape;147;p6"/>
          <p:cNvSpPr txBox="1"/>
          <p:nvPr/>
        </p:nvSpPr>
        <p:spPr>
          <a:xfrm>
            <a:off x="457200" y="43434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0" i="0" lang="en-US" sz="1200" u="none" cap="none" strike="noStrike">
                <a:solidFill>
                  <a:schemeClr val="accent6"/>
                </a:solidFill>
                <a:latin typeface="Calibri"/>
                <a:ea typeface="Calibri"/>
                <a:cs typeface="Calibri"/>
                <a:sym typeface="Calibri"/>
              </a:rPr>
              <a:t>Cada turno queda en la trazabilidad: herramientas usadas y número de pasos.</a:t>
            </a:r>
            <a:endParaRPr b="0" i="0" sz="1200" u="none" cap="none" strike="noStrike">
              <a:solidFill>
                <a:schemeClr val="dk1"/>
              </a:solidFill>
              <a:latin typeface="Calibri"/>
              <a:ea typeface="Calibri"/>
              <a:cs typeface="Calibri"/>
              <a:sym typeface="Calibri"/>
            </a:endParaRPr>
          </a:p>
        </p:txBody>
      </p:sp>
      <p:sp>
        <p:nvSpPr>
          <p:cNvPr id="148" name="Google Shape;148;p6"/>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7"/>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Demo en vivo</a:t>
            </a:r>
            <a:endParaRPr sz="3400"/>
          </a:p>
        </p:txBody>
      </p:sp>
      <p:sp>
        <p:nvSpPr>
          <p:cNvPr id="155" name="Google Shape;155;p7"/>
          <p:cNvSpPr/>
          <p:nvPr/>
        </p:nvSpPr>
        <p:spPr>
          <a:xfrm>
            <a:off x="457200" y="1097280"/>
            <a:ext cx="2651760" cy="292608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7"/>
          <p:cNvSpPr/>
          <p:nvPr/>
        </p:nvSpPr>
        <p:spPr>
          <a:xfrm>
            <a:off x="640080" y="1261872"/>
            <a:ext cx="384048" cy="38404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7"/>
          <p:cNvSpPr txBox="1"/>
          <p:nvPr/>
        </p:nvSpPr>
        <p:spPr>
          <a:xfrm>
            <a:off x="640080" y="126187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58" name="Google Shape;158;p7"/>
          <p:cNvSpPr txBox="1"/>
          <p:nvPr/>
        </p:nvSpPr>
        <p:spPr>
          <a:xfrm>
            <a:off x="1143000" y="1216152"/>
            <a:ext cx="18745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Consulta administrativa</a:t>
            </a:r>
            <a:endParaRPr b="0" i="0" sz="1600" u="none" cap="none" strike="noStrike">
              <a:solidFill>
                <a:schemeClr val="dk1"/>
              </a:solidFill>
              <a:latin typeface="Calibri"/>
              <a:ea typeface="Calibri"/>
              <a:cs typeface="Calibri"/>
              <a:sym typeface="Calibri"/>
            </a:endParaRPr>
          </a:p>
        </p:txBody>
      </p:sp>
      <p:sp>
        <p:nvSpPr>
          <p:cNvPr id="159" name="Google Shape;159;p7"/>
          <p:cNvSpPr txBox="1"/>
          <p:nvPr/>
        </p:nvSpPr>
        <p:spPr>
          <a:xfrm>
            <a:off x="640080" y="187452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Pedir</a:t>
            </a:r>
            <a:endParaRPr b="0" i="0" sz="1200" u="none" cap="none" strike="noStrike">
              <a:solidFill>
                <a:schemeClr val="dk1"/>
              </a:solidFill>
              <a:latin typeface="Calibri"/>
              <a:ea typeface="Calibri"/>
              <a:cs typeface="Calibri"/>
              <a:sym typeface="Calibri"/>
            </a:endParaRPr>
          </a:p>
        </p:txBody>
      </p:sp>
      <p:sp>
        <p:nvSpPr>
          <p:cNvPr id="160" name="Google Shape;160;p7"/>
          <p:cNvSpPr txBox="1"/>
          <p:nvPr/>
        </p:nvSpPr>
        <p:spPr>
          <a:xfrm>
            <a:off x="640080" y="213055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1" lang="en-US" sz="1400" u="none" cap="none" strike="noStrike">
                <a:solidFill>
                  <a:schemeClr val="dk1"/>
                </a:solidFill>
                <a:latin typeface="Calibri"/>
                <a:ea typeface="Calibri"/>
                <a:cs typeface="Calibri"/>
                <a:sym typeface="Calibri"/>
              </a:rPr>
              <a:t>“¿Qué horario tiene la nutricionista?”</a:t>
            </a:r>
            <a:endParaRPr b="0" i="0" sz="1400" u="none" cap="none" strike="noStrike">
              <a:solidFill>
                <a:schemeClr val="dk1"/>
              </a:solidFill>
              <a:latin typeface="Calibri"/>
              <a:ea typeface="Calibri"/>
              <a:cs typeface="Calibri"/>
              <a:sym typeface="Calibri"/>
            </a:endParaRPr>
          </a:p>
        </p:txBody>
      </p:sp>
      <p:sp>
        <p:nvSpPr>
          <p:cNvPr id="161" name="Google Shape;161;p7"/>
          <p:cNvSpPr txBox="1"/>
          <p:nvPr/>
        </p:nvSpPr>
        <p:spPr>
          <a:xfrm>
            <a:off x="640080" y="292608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Se espera</a:t>
            </a:r>
            <a:endParaRPr b="0" i="0" sz="1200" u="none" cap="none" strike="noStrike">
              <a:solidFill>
                <a:schemeClr val="dk1"/>
              </a:solidFill>
              <a:latin typeface="Calibri"/>
              <a:ea typeface="Calibri"/>
              <a:cs typeface="Calibri"/>
              <a:sym typeface="Calibri"/>
            </a:endParaRPr>
          </a:p>
        </p:txBody>
      </p:sp>
      <p:sp>
        <p:nvSpPr>
          <p:cNvPr id="162" name="Google Shape;162;p7"/>
          <p:cNvSpPr txBox="1"/>
          <p:nvPr/>
        </p:nvSpPr>
        <p:spPr>
          <a:xfrm>
            <a:off x="640080" y="318211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Usa RAG y responde citando la fuente</a:t>
            </a:r>
            <a:endParaRPr b="0" i="0" sz="1400" u="none" cap="none" strike="noStrike">
              <a:solidFill>
                <a:schemeClr val="dk1"/>
              </a:solidFill>
              <a:latin typeface="Calibri"/>
              <a:ea typeface="Calibri"/>
              <a:cs typeface="Calibri"/>
              <a:sym typeface="Calibri"/>
            </a:endParaRPr>
          </a:p>
        </p:txBody>
      </p:sp>
      <p:sp>
        <p:nvSpPr>
          <p:cNvPr id="163" name="Google Shape;163;p7"/>
          <p:cNvSpPr/>
          <p:nvPr/>
        </p:nvSpPr>
        <p:spPr>
          <a:xfrm>
            <a:off x="3246120" y="1097280"/>
            <a:ext cx="2651760" cy="292608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7"/>
          <p:cNvSpPr/>
          <p:nvPr/>
        </p:nvSpPr>
        <p:spPr>
          <a:xfrm>
            <a:off x="3429000" y="1261872"/>
            <a:ext cx="384048" cy="38404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7"/>
          <p:cNvSpPr txBox="1"/>
          <p:nvPr/>
        </p:nvSpPr>
        <p:spPr>
          <a:xfrm>
            <a:off x="3429000" y="126187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6" name="Google Shape;166;p7"/>
          <p:cNvSpPr txBox="1"/>
          <p:nvPr/>
        </p:nvSpPr>
        <p:spPr>
          <a:xfrm>
            <a:off x="3931920" y="1216152"/>
            <a:ext cx="18745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Agendar sin cupo</a:t>
            </a:r>
            <a:endParaRPr b="0" i="0" sz="1600" u="none" cap="none" strike="noStrike">
              <a:solidFill>
                <a:schemeClr val="dk1"/>
              </a:solidFill>
              <a:latin typeface="Calibri"/>
              <a:ea typeface="Calibri"/>
              <a:cs typeface="Calibri"/>
              <a:sym typeface="Calibri"/>
            </a:endParaRPr>
          </a:p>
        </p:txBody>
      </p:sp>
      <p:sp>
        <p:nvSpPr>
          <p:cNvPr id="167" name="Google Shape;167;p7"/>
          <p:cNvSpPr txBox="1"/>
          <p:nvPr/>
        </p:nvSpPr>
        <p:spPr>
          <a:xfrm>
            <a:off x="3429000" y="187452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Pedir</a:t>
            </a:r>
            <a:endParaRPr b="0" i="0" sz="1200" u="none" cap="none" strike="noStrike">
              <a:solidFill>
                <a:schemeClr val="dk1"/>
              </a:solidFill>
              <a:latin typeface="Calibri"/>
              <a:ea typeface="Calibri"/>
              <a:cs typeface="Calibri"/>
              <a:sym typeface="Calibri"/>
            </a:endParaRPr>
          </a:p>
        </p:txBody>
      </p:sp>
      <p:sp>
        <p:nvSpPr>
          <p:cNvPr id="168" name="Google Shape;168;p7"/>
          <p:cNvSpPr txBox="1"/>
          <p:nvPr/>
        </p:nvSpPr>
        <p:spPr>
          <a:xfrm>
            <a:off x="3429000" y="213055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1" lang="en-US" sz="1400" u="none" cap="none" strike="noStrike">
                <a:solidFill>
                  <a:schemeClr val="dk1"/>
                </a:solidFill>
                <a:latin typeface="Calibri"/>
                <a:ea typeface="Calibri"/>
                <a:cs typeface="Calibri"/>
                <a:sym typeface="Calibri"/>
              </a:rPr>
              <a:t>“Quiero hora con el Dr. Soto el lunes”</a:t>
            </a:r>
            <a:endParaRPr b="0" i="0" sz="1400" u="none" cap="none" strike="noStrike">
              <a:solidFill>
                <a:schemeClr val="dk1"/>
              </a:solidFill>
              <a:latin typeface="Calibri"/>
              <a:ea typeface="Calibri"/>
              <a:cs typeface="Calibri"/>
              <a:sym typeface="Calibri"/>
            </a:endParaRPr>
          </a:p>
        </p:txBody>
      </p:sp>
      <p:sp>
        <p:nvSpPr>
          <p:cNvPr id="169" name="Google Shape;169;p7"/>
          <p:cNvSpPr txBox="1"/>
          <p:nvPr/>
        </p:nvSpPr>
        <p:spPr>
          <a:xfrm>
            <a:off x="3429000" y="292608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Se espera</a:t>
            </a:r>
            <a:endParaRPr b="0" i="0" sz="1200" u="none" cap="none" strike="noStrike">
              <a:solidFill>
                <a:schemeClr val="dk1"/>
              </a:solidFill>
              <a:latin typeface="Calibri"/>
              <a:ea typeface="Calibri"/>
              <a:cs typeface="Calibri"/>
              <a:sym typeface="Calibri"/>
            </a:endParaRPr>
          </a:p>
        </p:txBody>
      </p:sp>
      <p:sp>
        <p:nvSpPr>
          <p:cNvPr id="170" name="Google Shape;170;p7"/>
          <p:cNvSpPr txBox="1"/>
          <p:nvPr/>
        </p:nvSpPr>
        <p:spPr>
          <a:xfrm>
            <a:off x="3429000" y="318211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Verifica, no registra y ofrece alternativa</a:t>
            </a:r>
            <a:endParaRPr b="0" i="0" sz="1400" u="none" cap="none" strike="noStrike">
              <a:solidFill>
                <a:schemeClr val="dk1"/>
              </a:solidFill>
              <a:latin typeface="Calibri"/>
              <a:ea typeface="Calibri"/>
              <a:cs typeface="Calibri"/>
              <a:sym typeface="Calibri"/>
            </a:endParaRPr>
          </a:p>
        </p:txBody>
      </p:sp>
      <p:sp>
        <p:nvSpPr>
          <p:cNvPr id="171" name="Google Shape;171;p7"/>
          <p:cNvSpPr/>
          <p:nvPr/>
        </p:nvSpPr>
        <p:spPr>
          <a:xfrm>
            <a:off x="6035040" y="1097280"/>
            <a:ext cx="2651760" cy="2926080"/>
          </a:xfrm>
          <a:prstGeom prst="roundRect">
            <a:avLst>
              <a:gd fmla="val 275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7"/>
          <p:cNvSpPr/>
          <p:nvPr/>
        </p:nvSpPr>
        <p:spPr>
          <a:xfrm>
            <a:off x="6217920" y="1261872"/>
            <a:ext cx="384048" cy="38404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txBox="1"/>
          <p:nvPr/>
        </p:nvSpPr>
        <p:spPr>
          <a:xfrm>
            <a:off x="6217920" y="126187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74" name="Google Shape;174;p7"/>
          <p:cNvSpPr txBox="1"/>
          <p:nvPr/>
        </p:nvSpPr>
        <p:spPr>
          <a:xfrm>
            <a:off x="6720840" y="1216152"/>
            <a:ext cx="18745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Consulta de salud</a:t>
            </a:r>
            <a:endParaRPr b="0" i="0" sz="1600" u="none" cap="none" strike="noStrike">
              <a:solidFill>
                <a:schemeClr val="dk1"/>
              </a:solidFill>
              <a:latin typeface="Calibri"/>
              <a:ea typeface="Calibri"/>
              <a:cs typeface="Calibri"/>
              <a:sym typeface="Calibri"/>
            </a:endParaRPr>
          </a:p>
        </p:txBody>
      </p:sp>
      <p:sp>
        <p:nvSpPr>
          <p:cNvPr id="175" name="Google Shape;175;p7"/>
          <p:cNvSpPr txBox="1"/>
          <p:nvPr/>
        </p:nvSpPr>
        <p:spPr>
          <a:xfrm>
            <a:off x="6217920" y="187452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Pedir</a:t>
            </a:r>
            <a:endParaRPr b="0" i="0" sz="1200" u="none" cap="none" strike="noStrike">
              <a:solidFill>
                <a:schemeClr val="dk1"/>
              </a:solidFill>
              <a:latin typeface="Calibri"/>
              <a:ea typeface="Calibri"/>
              <a:cs typeface="Calibri"/>
              <a:sym typeface="Calibri"/>
            </a:endParaRPr>
          </a:p>
        </p:txBody>
      </p:sp>
      <p:sp>
        <p:nvSpPr>
          <p:cNvPr id="176" name="Google Shape;176;p7"/>
          <p:cNvSpPr txBox="1"/>
          <p:nvPr/>
        </p:nvSpPr>
        <p:spPr>
          <a:xfrm>
            <a:off x="6217920" y="213055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1" lang="en-US" sz="1400" u="none" cap="none" strike="noStrike">
                <a:solidFill>
                  <a:schemeClr val="dk1"/>
                </a:solidFill>
                <a:latin typeface="Calibri"/>
                <a:ea typeface="Calibri"/>
                <a:cs typeface="Calibri"/>
                <a:sym typeface="Calibri"/>
              </a:rPr>
              <a:t>“Tengo fiebre hace 3 días, ¿qué es?”</a:t>
            </a:r>
            <a:endParaRPr b="0" i="0" sz="1400" u="none" cap="none" strike="noStrike">
              <a:solidFill>
                <a:schemeClr val="dk1"/>
              </a:solidFill>
              <a:latin typeface="Calibri"/>
              <a:ea typeface="Calibri"/>
              <a:cs typeface="Calibri"/>
              <a:sym typeface="Calibri"/>
            </a:endParaRPr>
          </a:p>
        </p:txBody>
      </p:sp>
      <p:sp>
        <p:nvSpPr>
          <p:cNvPr id="177" name="Google Shape;177;p7"/>
          <p:cNvSpPr txBox="1"/>
          <p:nvPr/>
        </p:nvSpPr>
        <p:spPr>
          <a:xfrm>
            <a:off x="6217920" y="2926080"/>
            <a:ext cx="2286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Se espera</a:t>
            </a:r>
            <a:endParaRPr b="0" i="0" sz="1200" u="none" cap="none" strike="noStrike">
              <a:solidFill>
                <a:schemeClr val="dk1"/>
              </a:solidFill>
              <a:latin typeface="Calibri"/>
              <a:ea typeface="Calibri"/>
              <a:cs typeface="Calibri"/>
              <a:sym typeface="Calibri"/>
            </a:endParaRPr>
          </a:p>
        </p:txBody>
      </p:sp>
      <p:sp>
        <p:nvSpPr>
          <p:cNvPr id="178" name="Google Shape;178;p7"/>
          <p:cNvSpPr txBox="1"/>
          <p:nvPr/>
        </p:nvSpPr>
        <p:spPr>
          <a:xfrm>
            <a:off x="6217920" y="3182112"/>
            <a:ext cx="22860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No responde: deriva con mensaje a recepción</a:t>
            </a:r>
            <a:endParaRPr b="0" i="0" sz="1400" u="none" cap="none" strike="noStrike">
              <a:solidFill>
                <a:schemeClr val="dk1"/>
              </a:solidFill>
              <a:latin typeface="Calibri"/>
              <a:ea typeface="Calibri"/>
              <a:cs typeface="Calibri"/>
              <a:sym typeface="Calibri"/>
            </a:endParaRPr>
          </a:p>
        </p:txBody>
      </p:sp>
      <p:sp>
        <p:nvSpPr>
          <p:cNvPr id="179" name="Google Shape;179;p7"/>
          <p:cNvSpPr/>
          <p:nvPr/>
        </p:nvSpPr>
        <p:spPr>
          <a:xfrm>
            <a:off x="457200" y="4206240"/>
            <a:ext cx="8229600" cy="502920"/>
          </a:xfrm>
          <a:prstGeom prst="roundRect">
            <a:avLst>
              <a:gd fmla="val 14545" name="adj"/>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8"/>
          <p:cNvSpPr txBox="1"/>
          <p:nvPr>
            <p:ph type="title"/>
          </p:nvPr>
        </p:nvSpPr>
        <p:spPr>
          <a:xfrm>
            <a:off x="457200" y="274320"/>
            <a:ext cx="8229600" cy="64008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Aprendizajes y próximos pasos</a:t>
            </a:r>
            <a:endParaRPr sz="3400"/>
          </a:p>
        </p:txBody>
      </p:sp>
      <p:sp>
        <p:nvSpPr>
          <p:cNvPr id="187" name="Google Shape;187;p8"/>
          <p:cNvSpPr/>
          <p:nvPr/>
        </p:nvSpPr>
        <p:spPr>
          <a:xfrm>
            <a:off x="457200" y="1097280"/>
            <a:ext cx="5029200"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8"/>
          <p:cNvSpPr txBox="1"/>
          <p:nvPr/>
        </p:nvSpPr>
        <p:spPr>
          <a:xfrm>
            <a:off x="640055" y="1097368"/>
            <a:ext cx="4663500" cy="9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Memoria dividida entre anónimo y RUT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Se detecta el RUT en el texto y se migra la memoria</a:t>
            </a:r>
            <a:endParaRPr b="0" i="0" sz="1400" u="none" cap="none" strike="noStrike">
              <a:solidFill>
                <a:schemeClr val="dk1"/>
              </a:solidFill>
              <a:latin typeface="Calibri"/>
              <a:ea typeface="Calibri"/>
              <a:cs typeface="Calibri"/>
              <a:sym typeface="Calibri"/>
            </a:endParaRPr>
          </a:p>
        </p:txBody>
      </p:sp>
      <p:sp>
        <p:nvSpPr>
          <p:cNvPr id="189" name="Google Shape;189;p8"/>
          <p:cNvSpPr/>
          <p:nvPr/>
        </p:nvSpPr>
        <p:spPr>
          <a:xfrm>
            <a:off x="457200" y="2194560"/>
            <a:ext cx="5029200"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8"/>
          <p:cNvSpPr txBox="1"/>
          <p:nvPr/>
        </p:nvSpPr>
        <p:spPr>
          <a:xfrm>
            <a:off x="640080" y="2194560"/>
            <a:ext cx="46634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Todo se </a:t>
            </a:r>
            <a:r>
              <a:rPr b="1" lang="en-US">
                <a:solidFill>
                  <a:schemeClr val="dk2"/>
                </a:solidFill>
                <a:latin typeface="Calibri"/>
                <a:ea typeface="Calibri"/>
                <a:cs typeface="Calibri"/>
                <a:sym typeface="Calibri"/>
              </a:rPr>
              <a:t>deriva</a:t>
            </a:r>
            <a:r>
              <a:rPr b="1" i="0" lang="en-US" sz="1400" u="none" cap="none" strike="noStrike">
                <a:solidFill>
                  <a:schemeClr val="dk2"/>
                </a:solidFill>
                <a:latin typeface="Calibri"/>
                <a:ea typeface="Calibri"/>
                <a:cs typeface="Calibri"/>
                <a:sym typeface="Calibri"/>
              </a:rPr>
              <a:t> a recepción</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Regla de alcance en el system prompt</a:t>
            </a:r>
            <a:endParaRPr b="0" i="0" sz="1400" u="none" cap="none" strike="noStrike">
              <a:solidFill>
                <a:schemeClr val="dk1"/>
              </a:solidFill>
              <a:latin typeface="Calibri"/>
              <a:ea typeface="Calibri"/>
              <a:cs typeface="Calibri"/>
              <a:sym typeface="Calibri"/>
            </a:endParaRPr>
          </a:p>
        </p:txBody>
      </p:sp>
      <p:sp>
        <p:nvSpPr>
          <p:cNvPr id="191" name="Google Shape;191;p8"/>
          <p:cNvSpPr/>
          <p:nvPr/>
        </p:nvSpPr>
        <p:spPr>
          <a:xfrm>
            <a:off x="457200" y="3291840"/>
            <a:ext cx="5029200"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8"/>
          <p:cNvSpPr txBox="1"/>
          <p:nvPr/>
        </p:nvSpPr>
        <p:spPr>
          <a:xfrm>
            <a:off x="640080" y="3291840"/>
            <a:ext cx="46634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Conteo de tokens con modelo de OpenRouter</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Contador aproximado para la memoria</a:t>
            </a:r>
            <a:endParaRPr b="0" i="0" sz="1400" u="none" cap="none" strike="noStrike">
              <a:solidFill>
                <a:schemeClr val="dk1"/>
              </a:solidFill>
              <a:latin typeface="Calibri"/>
              <a:ea typeface="Calibri"/>
              <a:cs typeface="Calibri"/>
              <a:sym typeface="Calibri"/>
            </a:endParaRPr>
          </a:p>
        </p:txBody>
      </p:sp>
      <p:sp>
        <p:nvSpPr>
          <p:cNvPr id="193" name="Google Shape;193;p8"/>
          <p:cNvSpPr/>
          <p:nvPr/>
        </p:nvSpPr>
        <p:spPr>
          <a:xfrm>
            <a:off x="5715000" y="1097280"/>
            <a:ext cx="2971800" cy="3154680"/>
          </a:xfrm>
          <a:prstGeom prst="roundRect">
            <a:avLst>
              <a:gd fmla="val 2462" name="adj"/>
            </a:avLst>
          </a:prstGeom>
          <a:solidFill>
            <a:schemeClr val="dk2"/>
          </a:solidFill>
          <a:ln cap="flat" cmpd="sng" w="127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txBox="1"/>
          <p:nvPr/>
        </p:nvSpPr>
        <p:spPr>
          <a:xfrm>
            <a:off x="5897880" y="1234440"/>
            <a:ext cx="26517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Próximos pasos</a:t>
            </a:r>
            <a:endParaRPr b="0" i="0" sz="1800" u="none" cap="none" strike="noStrike">
              <a:solidFill>
                <a:schemeClr val="dk1"/>
              </a:solidFill>
              <a:latin typeface="Calibri"/>
              <a:ea typeface="Calibri"/>
              <a:cs typeface="Calibri"/>
              <a:sym typeface="Calibri"/>
            </a:endParaRPr>
          </a:p>
        </p:txBody>
      </p:sp>
      <p:sp>
        <p:nvSpPr>
          <p:cNvPr id="195" name="Google Shape;195;p8"/>
          <p:cNvSpPr txBox="1"/>
          <p:nvPr/>
        </p:nvSpPr>
        <p:spPr>
          <a:xfrm>
            <a:off x="5897880" y="1691640"/>
            <a:ext cx="2651760" cy="24688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Disponibilidad real de agenda</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Herramientas en un servidor aparte (MCP o API)</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Memoria en base de datos con acceso controlado</a:t>
            </a:r>
            <a:endParaRPr b="0" i="0" sz="1400" u="none" cap="none" strike="noStrike">
              <a:solidFill>
                <a:schemeClr val="dk1"/>
              </a:solidFill>
              <a:latin typeface="Calibri"/>
              <a:ea typeface="Calibri"/>
              <a:cs typeface="Calibri"/>
              <a:sym typeface="Calibri"/>
            </a:endParaRPr>
          </a:p>
        </p:txBody>
      </p:sp>
      <p:sp>
        <p:nvSpPr>
          <p:cNvPr id="196" name="Google Shape;196;p8"/>
          <p:cNvSpPr txBox="1"/>
          <p:nvPr>
            <p:ph idx="4294967295" type="sldNum"/>
          </p:nvPr>
        </p:nvSpPr>
        <p:spPr>
          <a:xfrm>
            <a:off x="8321040" y="4800600"/>
            <a:ext cx="457200" cy="2286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6"/>
                </a:solidFill>
                <a:latin typeface="Calibri"/>
                <a:ea typeface="Calibri"/>
                <a:cs typeface="Calibri"/>
                <a:sym typeface="Calibri"/>
              </a:rPr>
              <a:t>‹#›</a:t>
            </a:fld>
            <a:endParaRPr b="0" i="0" sz="1000" u="none" cap="none" strike="noStrike">
              <a:solidFill>
                <a:schemeClr val="accent6"/>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Vitalis EP2">
  <a:themeElements>
    <a:clrScheme name="Vitalis EP2">
      <a:dk1>
        <a:srgbClr val="1A2233"/>
      </a:dk1>
      <a:lt1>
        <a:srgbClr val="FFFFFF"/>
      </a:lt1>
      <a:dk2>
        <a:srgbClr val="21295C"/>
      </a:dk2>
      <a:lt2>
        <a:srgbClr val="EAF2F7"/>
      </a:lt2>
      <a:accent1>
        <a:srgbClr val="065A82"/>
      </a:accent1>
      <a:accent2>
        <a:srgbClr val="1C7293"/>
      </a:accent2>
      <a:accent3>
        <a:srgbClr val="B7791F"/>
      </a:accent3>
      <a:accent4>
        <a:srgbClr val="2F7D4F"/>
      </a:accent4>
      <a:accent5>
        <a:srgbClr val="6B4FA3"/>
      </a:accent5>
      <a:accent6>
        <a:srgbClr val="44546A"/>
      </a:accent6>
      <a:hlink>
        <a:srgbClr val="065A82"/>
      </a:hlink>
      <a:folHlink>
        <a:srgbClr val="6B4FA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Vitalis EP2">
  <a:themeElements>
    <a:clrScheme name="Vitalis EP2">
      <a:dk1>
        <a:srgbClr val="1A2233"/>
      </a:dk1>
      <a:lt1>
        <a:srgbClr val="FFFFFF"/>
      </a:lt1>
      <a:dk2>
        <a:srgbClr val="21295C"/>
      </a:dk2>
      <a:lt2>
        <a:srgbClr val="EAF2F7"/>
      </a:lt2>
      <a:accent1>
        <a:srgbClr val="065A82"/>
      </a:accent1>
      <a:accent2>
        <a:srgbClr val="1C7293"/>
      </a:accent2>
      <a:accent3>
        <a:srgbClr val="B7791F"/>
      </a:accent3>
      <a:accent4>
        <a:srgbClr val="2F7D4F"/>
      </a:accent4>
      <a:accent5>
        <a:srgbClr val="6B4FA3"/>
      </a:accent5>
      <a:accent6>
        <a:srgbClr val="44546A"/>
      </a:accent6>
      <a:hlink>
        <a:srgbClr val="065A82"/>
      </a:hlink>
      <a:folHlink>
        <a:srgbClr val="6B4FA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2026-10-19T20:39:43Z</dcterms:created>
  <dc:creator>PptxGenJS</dc:creator>
</cp:coreProperties>
</file>